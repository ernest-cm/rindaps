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3" r:id="rId7"/>
    <p:sldId id="262" r:id="rId8"/>
    <p:sldId id="265" r:id="rId9"/>
    <p:sldId id="268" r:id="rId10"/>
    <p:sldId id="269" r:id="rId11"/>
    <p:sldId id="271" r:id="rId12"/>
    <p:sldId id="272" r:id="rId13"/>
    <p:sldId id="270" r:id="rId14"/>
    <p:sldId id="273" r:id="rId15"/>
    <p:sldId id="274" r:id="rId16"/>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6" d="100"/>
          <a:sy n="26" d="100"/>
        </p:scale>
        <p:origin x="72" y="6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76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18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600" b="0"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600" b="0" i="0">
                <a:solidFill>
                  <a:schemeClr val="tx1"/>
                </a:solidFill>
                <a:latin typeface="Trebuchet MS"/>
                <a:cs typeface="Trebuchet MS"/>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760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7998" y="10286999"/>
                </a:moveTo>
                <a:lnTo>
                  <a:pt x="0" y="10286999"/>
                </a:lnTo>
                <a:lnTo>
                  <a:pt x="0" y="0"/>
                </a:lnTo>
                <a:lnTo>
                  <a:pt x="18287998" y="0"/>
                </a:lnTo>
                <a:lnTo>
                  <a:pt x="18287998" y="10286999"/>
                </a:lnTo>
                <a:close/>
              </a:path>
            </a:pathLst>
          </a:custGeom>
          <a:solidFill>
            <a:srgbClr val="D9D9D9"/>
          </a:solidFill>
        </p:spPr>
        <p:txBody>
          <a:bodyPr wrap="square" lIns="0" tIns="0" rIns="0" bIns="0" rtlCol="0"/>
          <a:lstStyle/>
          <a:p>
            <a:endParaRPr/>
          </a:p>
        </p:txBody>
      </p:sp>
      <p:sp>
        <p:nvSpPr>
          <p:cNvPr id="2" name="Holder 2"/>
          <p:cNvSpPr>
            <a:spLocks noGrp="1"/>
          </p:cNvSpPr>
          <p:nvPr>
            <p:ph type="title"/>
          </p:nvPr>
        </p:nvSpPr>
        <p:spPr>
          <a:xfrm>
            <a:off x="1438225" y="1050978"/>
            <a:ext cx="6896734" cy="1185545"/>
          </a:xfrm>
          <a:prstGeom prst="rect">
            <a:avLst/>
          </a:prstGeom>
        </p:spPr>
        <p:txBody>
          <a:bodyPr wrap="square" lIns="0" tIns="0" rIns="0" bIns="0">
            <a:spAutoFit/>
          </a:bodyPr>
          <a:lstStyle>
            <a:lvl1pPr>
              <a:defRPr sz="7600" b="0"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673458" y="4736535"/>
            <a:ext cx="15503525" cy="3110229"/>
          </a:xfrm>
          <a:prstGeom prst="rect">
            <a:avLst/>
          </a:prstGeom>
        </p:spPr>
        <p:txBody>
          <a:bodyPr wrap="square" lIns="0" tIns="0" rIns="0" bIns="0">
            <a:spAutoFit/>
          </a:bodyPr>
          <a:lstStyle>
            <a:lvl1pPr>
              <a:defRPr sz="1800" b="0" i="0">
                <a:solidFill>
                  <a:schemeClr val="tx1"/>
                </a:solidFill>
                <a:latin typeface="Lucida Sans Unicode"/>
                <a:cs typeface="Lucida Sans Unicode"/>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1/29/2026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109/TSE.2022.3145678" TargetMode="External"/><Relationship Id="rId2" Type="http://schemas.openxmlformats.org/officeDocument/2006/relationships/hyperlink" Target="https://doi.org/10.14445/22312803/IJCTT-V71I3P101" TargetMode="External"/><Relationship Id="rId1" Type="http://schemas.openxmlformats.org/officeDocument/2006/relationships/slideLayout" Target="../slideLayouts/slideLayout2.xml"/><Relationship Id="rId4" Type="http://schemas.openxmlformats.org/officeDocument/2006/relationships/hyperlink" Target="https://doi.org/10.26562/irjcs.2024.v1102.09"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82377" y="881106"/>
            <a:ext cx="16180435" cy="2063194"/>
          </a:xfrm>
          <a:prstGeom prst="rect">
            <a:avLst/>
          </a:prstGeom>
        </p:spPr>
        <p:txBody>
          <a:bodyPr vert="horz" wrap="square" lIns="0" tIns="12065" rIns="0" bIns="0" rtlCol="0">
            <a:spAutoFit/>
          </a:bodyPr>
          <a:lstStyle/>
          <a:p>
            <a:pPr marL="3124835" marR="5080" indent="-3112770" algn="ctr">
              <a:lnSpc>
                <a:spcPct val="116399"/>
              </a:lnSpc>
              <a:spcBef>
                <a:spcPts val="95"/>
              </a:spcBef>
            </a:pPr>
            <a:r>
              <a:rPr sz="6000" spc="-555" dirty="0"/>
              <a:t>DE</a:t>
            </a:r>
            <a:r>
              <a:rPr lang="en-US" sz="6000" spc="-555" dirty="0"/>
              <a:t>EP  LEARNING-BASED MODEL FOR SOLVING DEPENDENCY VERSION CONFLICTS</a:t>
            </a:r>
            <a:endParaRPr sz="6000" dirty="0"/>
          </a:p>
        </p:txBody>
      </p:sp>
      <p:grpSp>
        <p:nvGrpSpPr>
          <p:cNvPr id="3" name="object 3"/>
          <p:cNvGrpSpPr/>
          <p:nvPr/>
        </p:nvGrpSpPr>
        <p:grpSpPr>
          <a:xfrm>
            <a:off x="13323447" y="7679848"/>
            <a:ext cx="3819525" cy="1343025"/>
            <a:chOff x="13323447" y="7679848"/>
            <a:chExt cx="3819525" cy="1343025"/>
          </a:xfrm>
        </p:grpSpPr>
        <p:sp>
          <p:nvSpPr>
            <p:cNvPr id="4" name="object 4"/>
            <p:cNvSpPr/>
            <p:nvPr/>
          </p:nvSpPr>
          <p:spPr>
            <a:xfrm>
              <a:off x="13361547" y="7717948"/>
              <a:ext cx="3743960" cy="1270000"/>
            </a:xfrm>
            <a:custGeom>
              <a:avLst/>
              <a:gdLst/>
              <a:ahLst/>
              <a:cxnLst/>
              <a:rect l="l" t="t" r="r" b="b"/>
              <a:pathLst>
                <a:path w="3743959" h="1270000">
                  <a:moveTo>
                    <a:pt x="3344492" y="1269447"/>
                  </a:moveTo>
                  <a:lnTo>
                    <a:pt x="400050" y="1269447"/>
                  </a:lnTo>
                  <a:lnTo>
                    <a:pt x="353396" y="1266755"/>
                  </a:lnTo>
                  <a:lnTo>
                    <a:pt x="308322" y="1258881"/>
                  </a:lnTo>
                  <a:lnTo>
                    <a:pt x="265130" y="1246124"/>
                  </a:lnTo>
                  <a:lnTo>
                    <a:pt x="224118" y="1228785"/>
                  </a:lnTo>
                  <a:lnTo>
                    <a:pt x="185588" y="1207164"/>
                  </a:lnTo>
                  <a:lnTo>
                    <a:pt x="149839" y="1181560"/>
                  </a:lnTo>
                  <a:lnTo>
                    <a:pt x="117172" y="1152275"/>
                  </a:lnTo>
                  <a:lnTo>
                    <a:pt x="87886" y="1119608"/>
                  </a:lnTo>
                  <a:lnTo>
                    <a:pt x="62283" y="1083859"/>
                  </a:lnTo>
                  <a:lnTo>
                    <a:pt x="40661" y="1045329"/>
                  </a:lnTo>
                  <a:lnTo>
                    <a:pt x="23322" y="1004317"/>
                  </a:lnTo>
                  <a:lnTo>
                    <a:pt x="10565" y="961125"/>
                  </a:lnTo>
                  <a:lnTo>
                    <a:pt x="2691" y="916051"/>
                  </a:lnTo>
                  <a:lnTo>
                    <a:pt x="0" y="869397"/>
                  </a:lnTo>
                  <a:lnTo>
                    <a:pt x="0" y="400050"/>
                  </a:lnTo>
                  <a:lnTo>
                    <a:pt x="2691" y="353395"/>
                  </a:lnTo>
                  <a:lnTo>
                    <a:pt x="10565" y="308322"/>
                  </a:lnTo>
                  <a:lnTo>
                    <a:pt x="23322" y="265129"/>
                  </a:lnTo>
                  <a:lnTo>
                    <a:pt x="40661" y="224118"/>
                  </a:lnTo>
                  <a:lnTo>
                    <a:pt x="62283" y="185588"/>
                  </a:lnTo>
                  <a:lnTo>
                    <a:pt x="87886" y="149839"/>
                  </a:lnTo>
                  <a:lnTo>
                    <a:pt x="117172" y="117172"/>
                  </a:lnTo>
                  <a:lnTo>
                    <a:pt x="149839" y="87886"/>
                  </a:lnTo>
                  <a:lnTo>
                    <a:pt x="185588" y="62283"/>
                  </a:lnTo>
                  <a:lnTo>
                    <a:pt x="224118" y="40661"/>
                  </a:lnTo>
                  <a:lnTo>
                    <a:pt x="265130" y="23322"/>
                  </a:lnTo>
                  <a:lnTo>
                    <a:pt x="308322" y="10565"/>
                  </a:lnTo>
                  <a:lnTo>
                    <a:pt x="353396" y="2691"/>
                  </a:lnTo>
                  <a:lnTo>
                    <a:pt x="400050" y="0"/>
                  </a:lnTo>
                  <a:lnTo>
                    <a:pt x="3344492" y="0"/>
                  </a:lnTo>
                  <a:lnTo>
                    <a:pt x="3391146" y="2691"/>
                  </a:lnTo>
                  <a:lnTo>
                    <a:pt x="3436220" y="10565"/>
                  </a:lnTo>
                  <a:lnTo>
                    <a:pt x="3479412" y="23322"/>
                  </a:lnTo>
                  <a:lnTo>
                    <a:pt x="3520424" y="40661"/>
                  </a:lnTo>
                  <a:lnTo>
                    <a:pt x="3558954" y="62283"/>
                  </a:lnTo>
                  <a:lnTo>
                    <a:pt x="3594703" y="87886"/>
                  </a:lnTo>
                  <a:lnTo>
                    <a:pt x="3627370" y="117172"/>
                  </a:lnTo>
                  <a:lnTo>
                    <a:pt x="3656655" y="149839"/>
                  </a:lnTo>
                  <a:lnTo>
                    <a:pt x="3682259" y="185588"/>
                  </a:lnTo>
                  <a:lnTo>
                    <a:pt x="3703880" y="224118"/>
                  </a:lnTo>
                  <a:lnTo>
                    <a:pt x="3721220" y="265129"/>
                  </a:lnTo>
                  <a:lnTo>
                    <a:pt x="3733976" y="308322"/>
                  </a:lnTo>
                  <a:lnTo>
                    <a:pt x="3741850" y="353395"/>
                  </a:lnTo>
                  <a:lnTo>
                    <a:pt x="3743878" y="388535"/>
                  </a:lnTo>
                  <a:lnTo>
                    <a:pt x="3743878" y="880911"/>
                  </a:lnTo>
                  <a:lnTo>
                    <a:pt x="3733976" y="961125"/>
                  </a:lnTo>
                  <a:lnTo>
                    <a:pt x="3721220" y="1004317"/>
                  </a:lnTo>
                  <a:lnTo>
                    <a:pt x="3703880" y="1045329"/>
                  </a:lnTo>
                  <a:lnTo>
                    <a:pt x="3682259" y="1083859"/>
                  </a:lnTo>
                  <a:lnTo>
                    <a:pt x="3656655" y="1119608"/>
                  </a:lnTo>
                  <a:lnTo>
                    <a:pt x="3627370" y="1152275"/>
                  </a:lnTo>
                  <a:lnTo>
                    <a:pt x="3594703" y="1181560"/>
                  </a:lnTo>
                  <a:lnTo>
                    <a:pt x="3558954" y="1207164"/>
                  </a:lnTo>
                  <a:lnTo>
                    <a:pt x="3520424" y="1228785"/>
                  </a:lnTo>
                  <a:lnTo>
                    <a:pt x="3479412" y="1246124"/>
                  </a:lnTo>
                  <a:lnTo>
                    <a:pt x="3436220" y="1258881"/>
                  </a:lnTo>
                  <a:lnTo>
                    <a:pt x="3391146" y="1266755"/>
                  </a:lnTo>
                  <a:lnTo>
                    <a:pt x="3344492" y="1269447"/>
                  </a:lnTo>
                  <a:close/>
                </a:path>
              </a:pathLst>
            </a:custGeom>
            <a:solidFill>
              <a:srgbClr val="F5F2F5"/>
            </a:solidFill>
          </p:spPr>
          <p:txBody>
            <a:bodyPr wrap="square" lIns="0" tIns="0" rIns="0" bIns="0" rtlCol="0"/>
            <a:lstStyle/>
            <a:p>
              <a:endParaRPr/>
            </a:p>
          </p:txBody>
        </p:sp>
        <p:sp>
          <p:nvSpPr>
            <p:cNvPr id="5" name="object 5"/>
            <p:cNvSpPr/>
            <p:nvPr/>
          </p:nvSpPr>
          <p:spPr>
            <a:xfrm>
              <a:off x="13361547" y="7717948"/>
              <a:ext cx="3743325" cy="1266825"/>
            </a:xfrm>
            <a:custGeom>
              <a:avLst/>
              <a:gdLst/>
              <a:ahLst/>
              <a:cxnLst/>
              <a:rect l="l" t="t" r="r" b="b"/>
              <a:pathLst>
                <a:path w="3743325" h="1266825">
                  <a:moveTo>
                    <a:pt x="3743324" y="887831"/>
                  </a:moveTo>
                  <a:lnTo>
                    <a:pt x="3733826" y="961055"/>
                  </a:lnTo>
                  <a:lnTo>
                    <a:pt x="3721071" y="1004244"/>
                  </a:lnTo>
                  <a:lnTo>
                    <a:pt x="3703733" y="1045253"/>
                  </a:lnTo>
                  <a:lnTo>
                    <a:pt x="3682113" y="1083780"/>
                  </a:lnTo>
                  <a:lnTo>
                    <a:pt x="3656511" y="1119526"/>
                  </a:lnTo>
                  <a:lnTo>
                    <a:pt x="3627228" y="1152191"/>
                  </a:lnTo>
                  <a:lnTo>
                    <a:pt x="3594563" y="1181475"/>
                  </a:lnTo>
                  <a:lnTo>
                    <a:pt x="3558817" y="1207076"/>
                  </a:lnTo>
                  <a:lnTo>
                    <a:pt x="3520289" y="1228696"/>
                  </a:lnTo>
                  <a:lnTo>
                    <a:pt x="3479281" y="1246034"/>
                  </a:lnTo>
                  <a:lnTo>
                    <a:pt x="3436091" y="1258790"/>
                  </a:lnTo>
                  <a:lnTo>
                    <a:pt x="3391021" y="1266663"/>
                  </a:lnTo>
                  <a:lnTo>
                    <a:pt x="3388224" y="1266824"/>
                  </a:lnTo>
                </a:path>
                <a:path w="3743325" h="1266825">
                  <a:moveTo>
                    <a:pt x="356290" y="1266824"/>
                  </a:moveTo>
                  <a:lnTo>
                    <a:pt x="308422" y="1258790"/>
                  </a:lnTo>
                  <a:lnTo>
                    <a:pt x="265233" y="1246034"/>
                  </a:lnTo>
                  <a:lnTo>
                    <a:pt x="224224" y="1228696"/>
                  </a:lnTo>
                  <a:lnTo>
                    <a:pt x="185697" y="1207076"/>
                  </a:lnTo>
                  <a:lnTo>
                    <a:pt x="149951" y="1181474"/>
                  </a:lnTo>
                  <a:lnTo>
                    <a:pt x="117286" y="1152191"/>
                  </a:lnTo>
                  <a:lnTo>
                    <a:pt x="88003" y="1119526"/>
                  </a:lnTo>
                  <a:lnTo>
                    <a:pt x="62401" y="1083780"/>
                  </a:lnTo>
                  <a:lnTo>
                    <a:pt x="40781" y="1045252"/>
                  </a:lnTo>
                  <a:lnTo>
                    <a:pt x="23444" y="1004244"/>
                  </a:lnTo>
                  <a:lnTo>
                    <a:pt x="10688" y="961055"/>
                  </a:lnTo>
                  <a:lnTo>
                    <a:pt x="2814" y="915984"/>
                  </a:lnTo>
                  <a:lnTo>
                    <a:pt x="0" y="869333"/>
                  </a:lnTo>
                  <a:lnTo>
                    <a:pt x="0" y="400013"/>
                  </a:lnTo>
                  <a:lnTo>
                    <a:pt x="2814" y="353369"/>
                  </a:lnTo>
                  <a:lnTo>
                    <a:pt x="10688" y="308299"/>
                  </a:lnTo>
                  <a:lnTo>
                    <a:pt x="23444" y="265110"/>
                  </a:lnTo>
                  <a:lnTo>
                    <a:pt x="40781" y="224101"/>
                  </a:lnTo>
                  <a:lnTo>
                    <a:pt x="62401" y="185574"/>
                  </a:lnTo>
                  <a:lnTo>
                    <a:pt x="88003" y="149828"/>
                  </a:lnTo>
                  <a:lnTo>
                    <a:pt x="117286" y="117163"/>
                  </a:lnTo>
                  <a:lnTo>
                    <a:pt x="149951" y="87880"/>
                  </a:lnTo>
                  <a:lnTo>
                    <a:pt x="185697" y="62278"/>
                  </a:lnTo>
                  <a:lnTo>
                    <a:pt x="224225" y="40658"/>
                  </a:lnTo>
                  <a:lnTo>
                    <a:pt x="265233" y="23320"/>
                  </a:lnTo>
                  <a:lnTo>
                    <a:pt x="308422" y="10564"/>
                  </a:lnTo>
                  <a:lnTo>
                    <a:pt x="353493" y="2691"/>
                  </a:lnTo>
                  <a:lnTo>
                    <a:pt x="400143" y="0"/>
                  </a:lnTo>
                  <a:lnTo>
                    <a:pt x="3344370" y="0"/>
                  </a:lnTo>
                  <a:lnTo>
                    <a:pt x="3391021" y="2691"/>
                  </a:lnTo>
                  <a:lnTo>
                    <a:pt x="3436091" y="10564"/>
                  </a:lnTo>
                  <a:lnTo>
                    <a:pt x="3479281" y="23320"/>
                  </a:lnTo>
                  <a:lnTo>
                    <a:pt x="3520289" y="40658"/>
                  </a:lnTo>
                  <a:lnTo>
                    <a:pt x="3558817" y="62278"/>
                  </a:lnTo>
                  <a:lnTo>
                    <a:pt x="3594563" y="87879"/>
                  </a:lnTo>
                  <a:lnTo>
                    <a:pt x="3627228" y="117163"/>
                  </a:lnTo>
                  <a:lnTo>
                    <a:pt x="3656511" y="149827"/>
                  </a:lnTo>
                  <a:lnTo>
                    <a:pt x="3682113" y="185574"/>
                  </a:lnTo>
                  <a:lnTo>
                    <a:pt x="3703733" y="224101"/>
                  </a:lnTo>
                  <a:lnTo>
                    <a:pt x="3721071" y="265110"/>
                  </a:lnTo>
                  <a:lnTo>
                    <a:pt x="3733826" y="308299"/>
                  </a:lnTo>
                  <a:lnTo>
                    <a:pt x="3741700" y="353369"/>
                  </a:lnTo>
                  <a:lnTo>
                    <a:pt x="3743324" y="381523"/>
                  </a:lnTo>
                </a:path>
              </a:pathLst>
            </a:custGeom>
            <a:ln w="76199">
              <a:solidFill>
                <a:srgbClr val="000000"/>
              </a:solidFill>
            </a:ln>
          </p:spPr>
          <p:txBody>
            <a:bodyPr wrap="square" lIns="0" tIns="0" rIns="0" bIns="0" rtlCol="0"/>
            <a:lstStyle/>
            <a:p>
              <a:endParaRPr/>
            </a:p>
          </p:txBody>
        </p:sp>
      </p:grpSp>
      <p:sp>
        <p:nvSpPr>
          <p:cNvPr id="6" name="object 6"/>
          <p:cNvSpPr txBox="1"/>
          <p:nvPr/>
        </p:nvSpPr>
        <p:spPr>
          <a:xfrm>
            <a:off x="13761045" y="7830364"/>
            <a:ext cx="3098165" cy="960135"/>
          </a:xfrm>
          <a:prstGeom prst="rect">
            <a:avLst/>
          </a:prstGeom>
        </p:spPr>
        <p:txBody>
          <a:bodyPr vert="horz" wrap="square" lIns="0" tIns="12700" rIns="0" bIns="0" rtlCol="0">
            <a:spAutoFit/>
          </a:bodyPr>
          <a:lstStyle/>
          <a:p>
            <a:pPr marL="12700" marR="5080" indent="637540">
              <a:lnSpc>
                <a:spcPct val="114300"/>
              </a:lnSpc>
              <a:spcBef>
                <a:spcPts val="100"/>
              </a:spcBef>
            </a:pPr>
            <a:r>
              <a:rPr sz="2700" spc="-20" dirty="0">
                <a:latin typeface="Lucida Sans Unicode"/>
                <a:cs typeface="Lucida Sans Unicode"/>
              </a:rPr>
              <a:t>Supervisor: </a:t>
            </a:r>
            <a:r>
              <a:rPr lang="en-US" sz="2700" spc="-90" dirty="0" err="1">
                <a:latin typeface="Lucida Sans Unicode"/>
                <a:cs typeface="Lucida Sans Unicode"/>
              </a:rPr>
              <a:t>Mr</a:t>
            </a:r>
            <a:r>
              <a:rPr lang="en-US" sz="2700" spc="-90" dirty="0">
                <a:latin typeface="Lucida Sans Unicode"/>
                <a:cs typeface="Lucida Sans Unicode"/>
              </a:rPr>
              <a:t> Alfa O. Peter</a:t>
            </a:r>
            <a:endParaRPr sz="2700" dirty="0">
              <a:latin typeface="Lucida Sans Unicode"/>
              <a:cs typeface="Lucida Sans Unicode"/>
            </a:endParaRPr>
          </a:p>
        </p:txBody>
      </p:sp>
      <p:grpSp>
        <p:nvGrpSpPr>
          <p:cNvPr id="7" name="object 7"/>
          <p:cNvGrpSpPr/>
          <p:nvPr/>
        </p:nvGrpSpPr>
        <p:grpSpPr>
          <a:xfrm>
            <a:off x="1044051" y="7415865"/>
            <a:ext cx="5494655" cy="1600200"/>
            <a:chOff x="1044051" y="7415865"/>
            <a:chExt cx="5494655" cy="1600200"/>
          </a:xfrm>
        </p:grpSpPr>
        <p:sp>
          <p:nvSpPr>
            <p:cNvPr id="8" name="object 8"/>
            <p:cNvSpPr/>
            <p:nvPr/>
          </p:nvSpPr>
          <p:spPr>
            <a:xfrm>
              <a:off x="1072474" y="7444440"/>
              <a:ext cx="5436870" cy="1543050"/>
            </a:xfrm>
            <a:custGeom>
              <a:avLst/>
              <a:gdLst/>
              <a:ahLst/>
              <a:cxnLst/>
              <a:rect l="l" t="t" r="r" b="b"/>
              <a:pathLst>
                <a:path w="5436870" h="1543050">
                  <a:moveTo>
                    <a:pt x="4903942" y="1542954"/>
                  </a:moveTo>
                  <a:lnTo>
                    <a:pt x="533379" y="1542954"/>
                  </a:lnTo>
                  <a:lnTo>
                    <a:pt x="484831" y="1540775"/>
                  </a:lnTo>
                  <a:lnTo>
                    <a:pt x="437504" y="1534361"/>
                  </a:lnTo>
                  <a:lnTo>
                    <a:pt x="391586" y="1523902"/>
                  </a:lnTo>
                  <a:lnTo>
                    <a:pt x="347266" y="1509585"/>
                  </a:lnTo>
                  <a:lnTo>
                    <a:pt x="304732" y="1491599"/>
                  </a:lnTo>
                  <a:lnTo>
                    <a:pt x="264172" y="1470132"/>
                  </a:lnTo>
                  <a:lnTo>
                    <a:pt x="225775" y="1445373"/>
                  </a:lnTo>
                  <a:lnTo>
                    <a:pt x="189729" y="1417510"/>
                  </a:lnTo>
                  <a:lnTo>
                    <a:pt x="156223" y="1386731"/>
                  </a:lnTo>
                  <a:lnTo>
                    <a:pt x="125444" y="1353225"/>
                  </a:lnTo>
                  <a:lnTo>
                    <a:pt x="97581" y="1317179"/>
                  </a:lnTo>
                  <a:lnTo>
                    <a:pt x="72821" y="1278782"/>
                  </a:lnTo>
                  <a:lnTo>
                    <a:pt x="51355" y="1238222"/>
                  </a:lnTo>
                  <a:lnTo>
                    <a:pt x="33369" y="1195688"/>
                  </a:lnTo>
                  <a:lnTo>
                    <a:pt x="19052" y="1151368"/>
                  </a:lnTo>
                  <a:lnTo>
                    <a:pt x="8593" y="1105451"/>
                  </a:lnTo>
                  <a:lnTo>
                    <a:pt x="2179" y="1058123"/>
                  </a:lnTo>
                  <a:lnTo>
                    <a:pt x="0" y="1009575"/>
                  </a:lnTo>
                  <a:lnTo>
                    <a:pt x="0" y="533380"/>
                  </a:lnTo>
                  <a:lnTo>
                    <a:pt x="2179" y="484831"/>
                  </a:lnTo>
                  <a:lnTo>
                    <a:pt x="8593" y="437504"/>
                  </a:lnTo>
                  <a:lnTo>
                    <a:pt x="19052" y="391586"/>
                  </a:lnTo>
                  <a:lnTo>
                    <a:pt x="33369" y="347266"/>
                  </a:lnTo>
                  <a:lnTo>
                    <a:pt x="51355" y="304732"/>
                  </a:lnTo>
                  <a:lnTo>
                    <a:pt x="72821" y="264172"/>
                  </a:lnTo>
                  <a:lnTo>
                    <a:pt x="97581" y="225776"/>
                  </a:lnTo>
                  <a:lnTo>
                    <a:pt x="125444" y="189730"/>
                  </a:lnTo>
                  <a:lnTo>
                    <a:pt x="156223" y="156223"/>
                  </a:lnTo>
                  <a:lnTo>
                    <a:pt x="189729" y="125444"/>
                  </a:lnTo>
                  <a:lnTo>
                    <a:pt x="225775" y="97581"/>
                  </a:lnTo>
                  <a:lnTo>
                    <a:pt x="264172" y="72822"/>
                  </a:lnTo>
                  <a:lnTo>
                    <a:pt x="304732" y="51355"/>
                  </a:lnTo>
                  <a:lnTo>
                    <a:pt x="347266" y="33369"/>
                  </a:lnTo>
                  <a:lnTo>
                    <a:pt x="391586" y="19053"/>
                  </a:lnTo>
                  <a:lnTo>
                    <a:pt x="437504" y="8593"/>
                  </a:lnTo>
                  <a:lnTo>
                    <a:pt x="484831" y="2180"/>
                  </a:lnTo>
                  <a:lnTo>
                    <a:pt x="533379" y="0"/>
                  </a:lnTo>
                  <a:lnTo>
                    <a:pt x="4903942" y="0"/>
                  </a:lnTo>
                  <a:lnTo>
                    <a:pt x="4952490" y="2180"/>
                  </a:lnTo>
                  <a:lnTo>
                    <a:pt x="4999818" y="8593"/>
                  </a:lnTo>
                  <a:lnTo>
                    <a:pt x="5045735" y="19053"/>
                  </a:lnTo>
                  <a:lnTo>
                    <a:pt x="5090056" y="33369"/>
                  </a:lnTo>
                  <a:lnTo>
                    <a:pt x="5132590" y="51355"/>
                  </a:lnTo>
                  <a:lnTo>
                    <a:pt x="5173149" y="72822"/>
                  </a:lnTo>
                  <a:lnTo>
                    <a:pt x="5211546" y="97581"/>
                  </a:lnTo>
                  <a:lnTo>
                    <a:pt x="5247592" y="125444"/>
                  </a:lnTo>
                  <a:lnTo>
                    <a:pt x="5281099" y="156223"/>
                  </a:lnTo>
                  <a:lnTo>
                    <a:pt x="5311878" y="189730"/>
                  </a:lnTo>
                  <a:lnTo>
                    <a:pt x="5339741" y="225776"/>
                  </a:lnTo>
                  <a:lnTo>
                    <a:pt x="5364500" y="264172"/>
                  </a:lnTo>
                  <a:lnTo>
                    <a:pt x="5385967" y="304732"/>
                  </a:lnTo>
                  <a:lnTo>
                    <a:pt x="5403953" y="347266"/>
                  </a:lnTo>
                  <a:lnTo>
                    <a:pt x="5418269" y="391586"/>
                  </a:lnTo>
                  <a:lnTo>
                    <a:pt x="5428729" y="437504"/>
                  </a:lnTo>
                  <a:lnTo>
                    <a:pt x="5435142" y="484831"/>
                  </a:lnTo>
                  <a:lnTo>
                    <a:pt x="5436504" y="515164"/>
                  </a:lnTo>
                  <a:lnTo>
                    <a:pt x="5436504" y="1027790"/>
                  </a:lnTo>
                  <a:lnTo>
                    <a:pt x="5428729" y="1105451"/>
                  </a:lnTo>
                  <a:lnTo>
                    <a:pt x="5418269" y="1151368"/>
                  </a:lnTo>
                  <a:lnTo>
                    <a:pt x="5403953" y="1195688"/>
                  </a:lnTo>
                  <a:lnTo>
                    <a:pt x="5385967" y="1238222"/>
                  </a:lnTo>
                  <a:lnTo>
                    <a:pt x="5364500" y="1278782"/>
                  </a:lnTo>
                  <a:lnTo>
                    <a:pt x="5339741" y="1317179"/>
                  </a:lnTo>
                  <a:lnTo>
                    <a:pt x="5311878" y="1353225"/>
                  </a:lnTo>
                  <a:lnTo>
                    <a:pt x="5281099" y="1386731"/>
                  </a:lnTo>
                  <a:lnTo>
                    <a:pt x="5247592" y="1417510"/>
                  </a:lnTo>
                  <a:lnTo>
                    <a:pt x="5211546" y="1445373"/>
                  </a:lnTo>
                  <a:lnTo>
                    <a:pt x="5173149" y="1470132"/>
                  </a:lnTo>
                  <a:lnTo>
                    <a:pt x="5132590" y="1491599"/>
                  </a:lnTo>
                  <a:lnTo>
                    <a:pt x="5090056" y="1509585"/>
                  </a:lnTo>
                  <a:lnTo>
                    <a:pt x="5045735" y="1523902"/>
                  </a:lnTo>
                  <a:lnTo>
                    <a:pt x="4999818" y="1534361"/>
                  </a:lnTo>
                  <a:lnTo>
                    <a:pt x="4952490" y="1540775"/>
                  </a:lnTo>
                  <a:lnTo>
                    <a:pt x="4903942" y="1542954"/>
                  </a:lnTo>
                  <a:close/>
                </a:path>
              </a:pathLst>
            </a:custGeom>
            <a:solidFill>
              <a:srgbClr val="F5F2F5"/>
            </a:solidFill>
          </p:spPr>
          <p:txBody>
            <a:bodyPr wrap="square" lIns="0" tIns="0" rIns="0" bIns="0" rtlCol="0"/>
            <a:lstStyle/>
            <a:p>
              <a:endParaRPr/>
            </a:p>
          </p:txBody>
        </p:sp>
        <p:sp>
          <p:nvSpPr>
            <p:cNvPr id="9" name="object 9"/>
            <p:cNvSpPr/>
            <p:nvPr/>
          </p:nvSpPr>
          <p:spPr>
            <a:xfrm>
              <a:off x="1072626" y="7444440"/>
              <a:ext cx="5437505" cy="1543050"/>
            </a:xfrm>
            <a:custGeom>
              <a:avLst/>
              <a:gdLst/>
              <a:ahLst/>
              <a:cxnLst/>
              <a:rect l="l" t="t" r="r" b="b"/>
              <a:pathLst>
                <a:path w="5437505" h="1543050">
                  <a:moveTo>
                    <a:pt x="5437132" y="533360"/>
                  </a:moveTo>
                  <a:lnTo>
                    <a:pt x="5437132" y="1009539"/>
                  </a:lnTo>
                  <a:lnTo>
                    <a:pt x="5434952" y="1058086"/>
                  </a:lnTo>
                  <a:lnTo>
                    <a:pt x="5428538" y="1105412"/>
                  </a:lnTo>
                  <a:lnTo>
                    <a:pt x="5418079" y="1151328"/>
                  </a:lnTo>
                  <a:lnTo>
                    <a:pt x="5403763" y="1195646"/>
                  </a:lnTo>
                  <a:lnTo>
                    <a:pt x="5385778" y="1238179"/>
                  </a:lnTo>
                  <a:lnTo>
                    <a:pt x="5364312" y="1278737"/>
                  </a:lnTo>
                  <a:lnTo>
                    <a:pt x="5339554" y="1317132"/>
                  </a:lnTo>
                  <a:lnTo>
                    <a:pt x="5311692" y="1353177"/>
                  </a:lnTo>
                  <a:lnTo>
                    <a:pt x="5280914" y="1386683"/>
                  </a:lnTo>
                  <a:lnTo>
                    <a:pt x="5247408" y="1417461"/>
                  </a:lnTo>
                  <a:lnTo>
                    <a:pt x="5211364" y="1445323"/>
                  </a:lnTo>
                  <a:lnTo>
                    <a:pt x="5172968" y="1470081"/>
                  </a:lnTo>
                  <a:lnTo>
                    <a:pt x="5132410" y="1491547"/>
                  </a:lnTo>
                  <a:lnTo>
                    <a:pt x="5089878" y="1509532"/>
                  </a:lnTo>
                  <a:lnTo>
                    <a:pt x="5045559" y="1523848"/>
                  </a:lnTo>
                  <a:lnTo>
                    <a:pt x="4999643" y="1534307"/>
                  </a:lnTo>
                  <a:lnTo>
                    <a:pt x="4952317" y="1540721"/>
                  </a:lnTo>
                  <a:lnTo>
                    <a:pt x="4903771" y="1542900"/>
                  </a:lnTo>
                  <a:lnTo>
                    <a:pt x="533361" y="1542900"/>
                  </a:lnTo>
                  <a:lnTo>
                    <a:pt x="484814" y="1540721"/>
                  </a:lnTo>
                  <a:lnTo>
                    <a:pt x="437488" y="1534307"/>
                  </a:lnTo>
                  <a:lnTo>
                    <a:pt x="391572" y="1523848"/>
                  </a:lnTo>
                  <a:lnTo>
                    <a:pt x="347254" y="1509532"/>
                  </a:lnTo>
                  <a:lnTo>
                    <a:pt x="304721" y="1491547"/>
                  </a:lnTo>
                  <a:lnTo>
                    <a:pt x="264163" y="1470081"/>
                  </a:lnTo>
                  <a:lnTo>
                    <a:pt x="225767" y="1445323"/>
                  </a:lnTo>
                  <a:lnTo>
                    <a:pt x="189723" y="1417460"/>
                  </a:lnTo>
                  <a:lnTo>
                    <a:pt x="156217" y="1386682"/>
                  </a:lnTo>
                  <a:lnTo>
                    <a:pt x="125439" y="1353177"/>
                  </a:lnTo>
                  <a:lnTo>
                    <a:pt x="97577" y="1317132"/>
                  </a:lnTo>
                  <a:lnTo>
                    <a:pt x="72819" y="1278737"/>
                  </a:lnTo>
                  <a:lnTo>
                    <a:pt x="51353" y="1238179"/>
                  </a:lnTo>
                  <a:lnTo>
                    <a:pt x="33368" y="1195646"/>
                  </a:lnTo>
                  <a:lnTo>
                    <a:pt x="19052" y="1151328"/>
                  </a:lnTo>
                  <a:lnTo>
                    <a:pt x="8593" y="1105412"/>
                  </a:lnTo>
                  <a:lnTo>
                    <a:pt x="2179" y="1058086"/>
                  </a:lnTo>
                  <a:lnTo>
                    <a:pt x="0" y="1009539"/>
                  </a:lnTo>
                  <a:lnTo>
                    <a:pt x="0" y="533360"/>
                  </a:lnTo>
                  <a:lnTo>
                    <a:pt x="2179" y="484814"/>
                  </a:lnTo>
                  <a:lnTo>
                    <a:pt x="8593" y="437488"/>
                  </a:lnTo>
                  <a:lnTo>
                    <a:pt x="19052" y="391572"/>
                  </a:lnTo>
                  <a:lnTo>
                    <a:pt x="33368" y="347253"/>
                  </a:lnTo>
                  <a:lnTo>
                    <a:pt x="51353" y="304721"/>
                  </a:lnTo>
                  <a:lnTo>
                    <a:pt x="72819" y="264163"/>
                  </a:lnTo>
                  <a:lnTo>
                    <a:pt x="97577" y="225767"/>
                  </a:lnTo>
                  <a:lnTo>
                    <a:pt x="125439" y="189723"/>
                  </a:lnTo>
                  <a:lnTo>
                    <a:pt x="156217" y="156217"/>
                  </a:lnTo>
                  <a:lnTo>
                    <a:pt x="189723" y="125439"/>
                  </a:lnTo>
                  <a:lnTo>
                    <a:pt x="225767" y="97577"/>
                  </a:lnTo>
                  <a:lnTo>
                    <a:pt x="264163" y="72819"/>
                  </a:lnTo>
                  <a:lnTo>
                    <a:pt x="304721" y="51353"/>
                  </a:lnTo>
                  <a:lnTo>
                    <a:pt x="347254" y="33368"/>
                  </a:lnTo>
                  <a:lnTo>
                    <a:pt x="391572" y="19052"/>
                  </a:lnTo>
                  <a:lnTo>
                    <a:pt x="437488" y="8593"/>
                  </a:lnTo>
                  <a:lnTo>
                    <a:pt x="484814" y="2179"/>
                  </a:lnTo>
                  <a:lnTo>
                    <a:pt x="533361" y="0"/>
                  </a:lnTo>
                  <a:lnTo>
                    <a:pt x="4903771" y="0"/>
                  </a:lnTo>
                  <a:lnTo>
                    <a:pt x="4952317" y="2179"/>
                  </a:lnTo>
                  <a:lnTo>
                    <a:pt x="4999643" y="8593"/>
                  </a:lnTo>
                  <a:lnTo>
                    <a:pt x="5045559" y="19052"/>
                  </a:lnTo>
                  <a:lnTo>
                    <a:pt x="5089878" y="33368"/>
                  </a:lnTo>
                  <a:lnTo>
                    <a:pt x="5132410" y="51353"/>
                  </a:lnTo>
                  <a:lnTo>
                    <a:pt x="5172968" y="72819"/>
                  </a:lnTo>
                  <a:lnTo>
                    <a:pt x="5211364" y="97577"/>
                  </a:lnTo>
                  <a:lnTo>
                    <a:pt x="5247408" y="125439"/>
                  </a:lnTo>
                  <a:lnTo>
                    <a:pt x="5280914" y="156217"/>
                  </a:lnTo>
                  <a:lnTo>
                    <a:pt x="5311692" y="189723"/>
                  </a:lnTo>
                  <a:lnTo>
                    <a:pt x="5339554" y="225767"/>
                  </a:lnTo>
                  <a:lnTo>
                    <a:pt x="5364312" y="264163"/>
                  </a:lnTo>
                  <a:lnTo>
                    <a:pt x="5385778" y="304721"/>
                  </a:lnTo>
                  <a:lnTo>
                    <a:pt x="5403763" y="347253"/>
                  </a:lnTo>
                  <a:lnTo>
                    <a:pt x="5418079" y="391572"/>
                  </a:lnTo>
                  <a:lnTo>
                    <a:pt x="5428538" y="437488"/>
                  </a:lnTo>
                  <a:lnTo>
                    <a:pt x="5434952" y="484814"/>
                  </a:lnTo>
                  <a:lnTo>
                    <a:pt x="5437132" y="533360"/>
                  </a:lnTo>
                </a:path>
              </a:pathLst>
            </a:custGeom>
            <a:ln w="57149">
              <a:solidFill>
                <a:srgbClr val="000000"/>
              </a:solidFill>
            </a:ln>
          </p:spPr>
          <p:txBody>
            <a:bodyPr wrap="square" lIns="0" tIns="0" rIns="0" bIns="0" rtlCol="0"/>
            <a:lstStyle/>
            <a:p>
              <a:endParaRPr/>
            </a:p>
          </p:txBody>
        </p:sp>
      </p:grpSp>
      <p:sp>
        <p:nvSpPr>
          <p:cNvPr id="10" name="object 10"/>
          <p:cNvSpPr txBox="1"/>
          <p:nvPr/>
        </p:nvSpPr>
        <p:spPr>
          <a:xfrm>
            <a:off x="1234086" y="7569423"/>
            <a:ext cx="4938114" cy="1415131"/>
          </a:xfrm>
          <a:prstGeom prst="rect">
            <a:avLst/>
          </a:prstGeom>
        </p:spPr>
        <p:txBody>
          <a:bodyPr vert="horz" wrap="square" lIns="0" tIns="12065" rIns="0" bIns="0" rtlCol="0">
            <a:spAutoFit/>
          </a:bodyPr>
          <a:lstStyle/>
          <a:p>
            <a:pPr marL="183515" marR="5080" indent="-171450">
              <a:lnSpc>
                <a:spcPct val="116399"/>
              </a:lnSpc>
              <a:spcBef>
                <a:spcPts val="95"/>
              </a:spcBef>
            </a:pPr>
            <a:r>
              <a:rPr sz="2650" spc="-80" dirty="0">
                <a:latin typeface="Lucida Sans Unicode"/>
                <a:cs typeface="Lucida Sans Unicode"/>
              </a:rPr>
              <a:t>Department</a:t>
            </a:r>
            <a:r>
              <a:rPr sz="2650" spc="-155" dirty="0">
                <a:latin typeface="Lucida Sans Unicode"/>
                <a:cs typeface="Lucida Sans Unicode"/>
              </a:rPr>
              <a:t> </a:t>
            </a:r>
            <a:r>
              <a:rPr sz="2650" spc="-70" dirty="0">
                <a:latin typeface="Lucida Sans Unicode"/>
                <a:cs typeface="Lucida Sans Unicode"/>
              </a:rPr>
              <a:t>of</a:t>
            </a:r>
            <a:r>
              <a:rPr sz="2650" spc="-155" dirty="0">
                <a:latin typeface="Lucida Sans Unicode"/>
                <a:cs typeface="Lucida Sans Unicode"/>
              </a:rPr>
              <a:t> </a:t>
            </a:r>
            <a:r>
              <a:rPr sz="2650" spc="-114" dirty="0">
                <a:latin typeface="Lucida Sans Unicode"/>
                <a:cs typeface="Lucida Sans Unicode"/>
              </a:rPr>
              <a:t>Computer</a:t>
            </a:r>
            <a:r>
              <a:rPr lang="en-US" sz="2650" spc="-155" dirty="0">
                <a:latin typeface="Lucida Sans Unicode"/>
                <a:cs typeface="Lucida Sans Unicode"/>
              </a:rPr>
              <a:t> </a:t>
            </a:r>
            <a:r>
              <a:rPr sz="2650" spc="-55" dirty="0">
                <a:latin typeface="Lucida Sans Unicode"/>
                <a:cs typeface="Lucida Sans Unicode"/>
              </a:rPr>
              <a:t>Science </a:t>
            </a:r>
            <a:endParaRPr lang="en-US" sz="2650" spc="-55" dirty="0">
              <a:latin typeface="Lucida Sans Unicode"/>
              <a:cs typeface="Lucida Sans Unicode"/>
            </a:endParaRPr>
          </a:p>
          <a:p>
            <a:pPr marL="183515" marR="5080" indent="-171450">
              <a:lnSpc>
                <a:spcPct val="116399"/>
              </a:lnSpc>
              <a:spcBef>
                <a:spcPts val="95"/>
              </a:spcBef>
            </a:pPr>
            <a:r>
              <a:rPr lang="en-US" sz="2650" spc="-50" dirty="0">
                <a:latin typeface="Lucida Sans Unicode"/>
                <a:cs typeface="Lucida Sans Unicode"/>
              </a:rPr>
              <a:t>LANDMARK</a:t>
            </a:r>
            <a:r>
              <a:rPr sz="2650" spc="-165" dirty="0">
                <a:latin typeface="Lucida Sans Unicode"/>
                <a:cs typeface="Lucida Sans Unicode"/>
              </a:rPr>
              <a:t> </a:t>
            </a:r>
            <a:r>
              <a:rPr sz="2650" spc="-95" dirty="0">
                <a:latin typeface="Lucida Sans Unicode"/>
                <a:cs typeface="Lucida Sans Unicode"/>
              </a:rPr>
              <a:t>U</a:t>
            </a:r>
            <a:r>
              <a:rPr lang="en-US" sz="2650" spc="-95" dirty="0">
                <a:latin typeface="Lucida Sans Unicode"/>
                <a:cs typeface="Lucida Sans Unicode"/>
              </a:rPr>
              <a:t>NIVERISTY</a:t>
            </a:r>
            <a:endParaRPr sz="2650" dirty="0">
              <a:latin typeface="Lucida Sans Unicode"/>
              <a:cs typeface="Lucida Sans Unicode"/>
            </a:endParaRPr>
          </a:p>
        </p:txBody>
      </p:sp>
      <p:sp>
        <p:nvSpPr>
          <p:cNvPr id="11" name="object 11"/>
          <p:cNvSpPr txBox="1"/>
          <p:nvPr/>
        </p:nvSpPr>
        <p:spPr>
          <a:xfrm>
            <a:off x="6524659" y="3456278"/>
            <a:ext cx="6071870" cy="1640961"/>
          </a:xfrm>
          <a:prstGeom prst="rect">
            <a:avLst/>
          </a:prstGeom>
        </p:spPr>
        <p:txBody>
          <a:bodyPr vert="horz" wrap="square" lIns="0" tIns="14604" rIns="0" bIns="0" rtlCol="0">
            <a:spAutoFit/>
          </a:bodyPr>
          <a:lstStyle/>
          <a:p>
            <a:pPr marL="12700" marR="5080">
              <a:lnSpc>
                <a:spcPct val="116900"/>
              </a:lnSpc>
              <a:spcBef>
                <a:spcPts val="4260"/>
              </a:spcBef>
            </a:pPr>
            <a:r>
              <a:rPr lang="en-US" sz="3100" spc="-220" dirty="0" err="1">
                <a:latin typeface="Trebuchet MS"/>
                <a:cs typeface="Trebuchet MS"/>
              </a:rPr>
              <a:t>Watobiloba</a:t>
            </a:r>
            <a:r>
              <a:rPr lang="en-US" sz="3100" spc="-155" dirty="0">
                <a:latin typeface="Trebuchet MS"/>
                <a:cs typeface="Trebuchet MS"/>
              </a:rPr>
              <a:t> </a:t>
            </a:r>
            <a:r>
              <a:rPr lang="en-US" sz="3100" spc="-370" dirty="0">
                <a:latin typeface="Trebuchet MS"/>
                <a:cs typeface="Trebuchet MS"/>
              </a:rPr>
              <a:t>A.</a:t>
            </a:r>
            <a:r>
              <a:rPr lang="en-US" sz="3100" spc="-160" dirty="0">
                <a:latin typeface="Trebuchet MS"/>
                <a:cs typeface="Trebuchet MS"/>
              </a:rPr>
              <a:t> </a:t>
            </a:r>
            <a:r>
              <a:rPr lang="en-US" sz="3100" spc="-130" dirty="0">
                <a:latin typeface="Trebuchet MS"/>
                <a:cs typeface="Trebuchet MS"/>
              </a:rPr>
              <a:t>23/3005, </a:t>
            </a:r>
            <a:r>
              <a:rPr lang="en-US" sz="3100" spc="-200" dirty="0">
                <a:latin typeface="Trebuchet MS"/>
                <a:cs typeface="Trebuchet MS"/>
              </a:rPr>
              <a:t>Badejo</a:t>
            </a:r>
            <a:r>
              <a:rPr lang="en-US" sz="3100" spc="-190" dirty="0">
                <a:latin typeface="Trebuchet MS"/>
                <a:cs typeface="Trebuchet MS"/>
              </a:rPr>
              <a:t> </a:t>
            </a:r>
            <a:r>
              <a:rPr lang="en-US" sz="3100" spc="-210" dirty="0" err="1">
                <a:latin typeface="Trebuchet MS"/>
                <a:cs typeface="Trebuchet MS"/>
              </a:rPr>
              <a:t>Olurunfunmi</a:t>
            </a:r>
            <a:r>
              <a:rPr lang="en-US" sz="3100" spc="-185" dirty="0">
                <a:latin typeface="Trebuchet MS"/>
                <a:cs typeface="Trebuchet MS"/>
              </a:rPr>
              <a:t> </a:t>
            </a:r>
            <a:r>
              <a:rPr lang="en-US" sz="3100" spc="-505" dirty="0">
                <a:latin typeface="Trebuchet MS"/>
                <a:cs typeface="Trebuchet MS"/>
              </a:rPr>
              <a:t>T.</a:t>
            </a:r>
            <a:r>
              <a:rPr lang="en-US" sz="3100" spc="-185" dirty="0">
                <a:latin typeface="Trebuchet MS"/>
                <a:cs typeface="Trebuchet MS"/>
              </a:rPr>
              <a:t> </a:t>
            </a:r>
            <a:r>
              <a:rPr lang="en-US" sz="3100" spc="-25" dirty="0">
                <a:latin typeface="Trebuchet MS"/>
                <a:cs typeface="Trebuchet MS"/>
              </a:rPr>
              <a:t>23/2326, </a:t>
            </a:r>
            <a:r>
              <a:rPr lang="en-US" sz="3100" spc="-180" dirty="0" err="1">
                <a:latin typeface="Trebuchet MS"/>
                <a:cs typeface="Trebuchet MS"/>
              </a:rPr>
              <a:t>ASekunoWo</a:t>
            </a:r>
            <a:r>
              <a:rPr lang="en-US" sz="3100" spc="-180" dirty="0">
                <a:latin typeface="Trebuchet MS"/>
                <a:cs typeface="Trebuchet MS"/>
              </a:rPr>
              <a:t> </a:t>
            </a:r>
            <a:r>
              <a:rPr lang="en-US" sz="3100" spc="-190" dirty="0">
                <a:latin typeface="Trebuchet MS"/>
                <a:cs typeface="Trebuchet MS"/>
              </a:rPr>
              <a:t>Demilade</a:t>
            </a:r>
            <a:r>
              <a:rPr lang="en-US" sz="3100" spc="-180" dirty="0">
                <a:latin typeface="Trebuchet MS"/>
                <a:cs typeface="Trebuchet MS"/>
              </a:rPr>
              <a:t> </a:t>
            </a:r>
            <a:r>
              <a:rPr lang="en-US" sz="3100" spc="-509" dirty="0">
                <a:latin typeface="Trebuchet MS"/>
                <a:cs typeface="Trebuchet MS"/>
              </a:rPr>
              <a:t>O.</a:t>
            </a:r>
            <a:r>
              <a:rPr lang="en-US" sz="3100" spc="-180" dirty="0">
                <a:latin typeface="Trebuchet MS"/>
                <a:cs typeface="Trebuchet MS"/>
              </a:rPr>
              <a:t> </a:t>
            </a:r>
            <a:r>
              <a:rPr lang="en-US" sz="3100" spc="-10" dirty="0">
                <a:latin typeface="Trebuchet MS"/>
                <a:cs typeface="Trebuchet MS"/>
              </a:rPr>
              <a:t>22/0668</a:t>
            </a:r>
            <a:endParaRPr lang="en-US" sz="3100" dirty="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2298700" cy="10287000"/>
          </a:xfrm>
          <a:custGeom>
            <a:avLst/>
            <a:gdLst/>
            <a:ahLst/>
            <a:cxnLst/>
            <a:rect l="l" t="t" r="r" b="b"/>
            <a:pathLst>
              <a:path w="2298700" h="10287000">
                <a:moveTo>
                  <a:pt x="2136229" y="10286999"/>
                </a:moveTo>
                <a:lnTo>
                  <a:pt x="161925" y="10286999"/>
                </a:lnTo>
                <a:lnTo>
                  <a:pt x="130187" y="10283859"/>
                </a:lnTo>
                <a:lnTo>
                  <a:pt x="72088" y="10259794"/>
                </a:lnTo>
                <a:lnTo>
                  <a:pt x="27205" y="10214911"/>
                </a:lnTo>
                <a:lnTo>
                  <a:pt x="3140" y="10156813"/>
                </a:lnTo>
                <a:lnTo>
                  <a:pt x="0" y="10125075"/>
                </a:lnTo>
                <a:lnTo>
                  <a:pt x="0" y="161925"/>
                </a:lnTo>
                <a:lnTo>
                  <a:pt x="12325" y="99958"/>
                </a:lnTo>
                <a:lnTo>
                  <a:pt x="47426" y="47426"/>
                </a:lnTo>
                <a:lnTo>
                  <a:pt x="99958" y="12325"/>
                </a:lnTo>
                <a:lnTo>
                  <a:pt x="161925" y="0"/>
                </a:lnTo>
                <a:lnTo>
                  <a:pt x="2136229" y="0"/>
                </a:lnTo>
                <a:lnTo>
                  <a:pt x="2198195" y="12325"/>
                </a:lnTo>
                <a:lnTo>
                  <a:pt x="2250727" y="47426"/>
                </a:lnTo>
                <a:lnTo>
                  <a:pt x="2285828" y="99958"/>
                </a:lnTo>
                <a:lnTo>
                  <a:pt x="2298154" y="161925"/>
                </a:lnTo>
                <a:lnTo>
                  <a:pt x="2298154" y="10125075"/>
                </a:lnTo>
                <a:lnTo>
                  <a:pt x="2285828" y="10187041"/>
                </a:lnTo>
                <a:lnTo>
                  <a:pt x="2250727" y="10239574"/>
                </a:lnTo>
                <a:lnTo>
                  <a:pt x="2198195" y="10274674"/>
                </a:lnTo>
                <a:lnTo>
                  <a:pt x="2136229" y="10286999"/>
                </a:lnTo>
                <a:close/>
              </a:path>
            </a:pathLst>
          </a:custGeom>
          <a:solidFill>
            <a:srgbClr val="F5F2F5"/>
          </a:solidFill>
        </p:spPr>
        <p:txBody>
          <a:bodyPr wrap="square" lIns="0" tIns="0" rIns="0" bIns="0" rtlCol="0"/>
          <a:lstStyle/>
          <a:p>
            <a:endParaRPr/>
          </a:p>
        </p:txBody>
      </p:sp>
      <p:sp>
        <p:nvSpPr>
          <p:cNvPr id="3" name="object 3"/>
          <p:cNvSpPr txBox="1"/>
          <p:nvPr/>
        </p:nvSpPr>
        <p:spPr>
          <a:xfrm>
            <a:off x="2971800" y="1924354"/>
            <a:ext cx="5867400" cy="6102953"/>
          </a:xfrm>
          <a:prstGeom prst="rect">
            <a:avLst/>
          </a:prstGeom>
        </p:spPr>
        <p:txBody>
          <a:bodyPr vert="horz" wrap="square" lIns="0" tIns="30480" rIns="0" bIns="0" rtlCol="0">
            <a:spAutoFit/>
          </a:bodyPr>
          <a:lstStyle/>
          <a:p>
            <a:pPr algn="ctr">
              <a:lnSpc>
                <a:spcPct val="100000"/>
              </a:lnSpc>
              <a:spcBef>
                <a:spcPts val="240"/>
              </a:spcBef>
            </a:pPr>
            <a:r>
              <a:rPr lang="en-US" sz="2400" spc="-60" dirty="0">
                <a:latin typeface="Lucida Sans Unicode"/>
                <a:cs typeface="Lucida Sans Unicode"/>
              </a:rPr>
              <a:t>INTRODUCTION</a:t>
            </a:r>
            <a:endParaRPr sz="2400" dirty="0">
              <a:latin typeface="Lucida Sans Unicode"/>
              <a:cs typeface="Lucida Sans Unicode"/>
            </a:endParaRPr>
          </a:p>
          <a:p>
            <a:pPr marL="256540" marR="173990" algn="ctr">
              <a:lnSpc>
                <a:spcPts val="10990"/>
              </a:lnSpc>
              <a:spcBef>
                <a:spcPts val="1565"/>
              </a:spcBef>
            </a:pPr>
            <a:r>
              <a:rPr sz="2400" spc="-40" dirty="0">
                <a:latin typeface="Lucida Sans Unicode"/>
                <a:cs typeface="Lucida Sans Unicode"/>
              </a:rPr>
              <a:t>PROBLEM</a:t>
            </a:r>
            <a:r>
              <a:rPr sz="2400" spc="-130" dirty="0">
                <a:latin typeface="Lucida Sans Unicode"/>
                <a:cs typeface="Lucida Sans Unicode"/>
              </a:rPr>
              <a:t> </a:t>
            </a:r>
            <a:r>
              <a:rPr sz="2400" spc="-114" dirty="0">
                <a:latin typeface="Lucida Sans Unicode"/>
                <a:cs typeface="Lucida Sans Unicode"/>
              </a:rPr>
              <a:t>STATEMENT</a:t>
            </a:r>
            <a:endParaRPr lang="en-US" sz="2400" spc="-114" dirty="0">
              <a:latin typeface="Lucida Sans Unicode"/>
              <a:cs typeface="Lucida Sans Unicode"/>
            </a:endParaRPr>
          </a:p>
          <a:p>
            <a:pPr marL="256540" marR="173990" algn="ctr">
              <a:lnSpc>
                <a:spcPts val="10990"/>
              </a:lnSpc>
              <a:spcBef>
                <a:spcPts val="1565"/>
              </a:spcBef>
            </a:pPr>
            <a:r>
              <a:rPr lang="en-US" sz="2400" spc="-114" dirty="0">
                <a:latin typeface="Lucida Sans Unicode"/>
                <a:cs typeface="Lucida Sans Unicode"/>
              </a:rPr>
              <a:t>AIM AND OBJECTIVE</a:t>
            </a:r>
            <a:endParaRPr sz="2400" dirty="0">
              <a:latin typeface="Lucida Sans Unicode"/>
              <a:cs typeface="Lucida Sans Unicode"/>
            </a:endParaRPr>
          </a:p>
          <a:p>
            <a:pPr marL="261620" marR="179070" algn="ctr">
              <a:lnSpc>
                <a:spcPts val="10610"/>
              </a:lnSpc>
            </a:pPr>
            <a:r>
              <a:rPr lang="en-US" sz="2400" dirty="0">
                <a:latin typeface="Lucida Sans Unicode"/>
                <a:cs typeface="Lucida Sans Unicode"/>
              </a:rPr>
              <a:t>LITERATURE REVIEW AND GAP</a:t>
            </a:r>
          </a:p>
          <a:p>
            <a:pPr marL="261620" marR="179070" algn="ctr">
              <a:lnSpc>
                <a:spcPts val="10610"/>
              </a:lnSpc>
            </a:pPr>
            <a:r>
              <a:rPr lang="en-US" sz="2400" dirty="0">
                <a:latin typeface="Lucida Sans Unicode"/>
                <a:cs typeface="Lucida Sans Unicode"/>
              </a:rPr>
              <a:t> METHODOLOGY</a:t>
            </a:r>
            <a:endParaRPr sz="2400" dirty="0">
              <a:latin typeface="Lucida Sans Unicode"/>
              <a:cs typeface="Lucida Sans Unicode"/>
            </a:endParaRPr>
          </a:p>
        </p:txBody>
      </p:sp>
      <p:sp>
        <p:nvSpPr>
          <p:cNvPr id="4" name="object 4"/>
          <p:cNvSpPr txBox="1"/>
          <p:nvPr/>
        </p:nvSpPr>
        <p:spPr>
          <a:xfrm>
            <a:off x="10869192" y="1924354"/>
            <a:ext cx="5291455" cy="4796698"/>
          </a:xfrm>
          <a:prstGeom prst="rect">
            <a:avLst/>
          </a:prstGeom>
        </p:spPr>
        <p:txBody>
          <a:bodyPr vert="horz" wrap="square" lIns="0" tIns="30480" rIns="0" bIns="0" rtlCol="0">
            <a:spAutoFit/>
          </a:bodyPr>
          <a:lstStyle/>
          <a:p>
            <a:pPr algn="ctr">
              <a:lnSpc>
                <a:spcPct val="100000"/>
              </a:lnSpc>
              <a:spcBef>
                <a:spcPts val="240"/>
              </a:spcBef>
            </a:pPr>
            <a:r>
              <a:rPr lang="en-US" sz="2400" spc="-10" dirty="0">
                <a:latin typeface="Lucida Sans Unicode"/>
                <a:cs typeface="Lucida Sans Unicode"/>
              </a:rPr>
              <a:t>EXPECTED RESULTS</a:t>
            </a:r>
            <a:endParaRPr sz="2400" dirty="0">
              <a:latin typeface="Lucida Sans Unicode"/>
              <a:cs typeface="Lucida Sans Unicode"/>
            </a:endParaRPr>
          </a:p>
          <a:p>
            <a:pPr>
              <a:lnSpc>
                <a:spcPct val="100000"/>
              </a:lnSpc>
            </a:pPr>
            <a:endParaRPr sz="2400" dirty="0">
              <a:latin typeface="Lucida Sans Unicode"/>
              <a:cs typeface="Lucida Sans Unicode"/>
            </a:endParaRPr>
          </a:p>
          <a:p>
            <a:pPr>
              <a:lnSpc>
                <a:spcPct val="100000"/>
              </a:lnSpc>
              <a:spcBef>
                <a:spcPts val="580"/>
              </a:spcBef>
            </a:pPr>
            <a:endParaRPr sz="2400" dirty="0">
              <a:latin typeface="Lucida Sans Unicode"/>
              <a:cs typeface="Lucida Sans Unicode"/>
            </a:endParaRPr>
          </a:p>
          <a:p>
            <a:pPr algn="ctr">
              <a:lnSpc>
                <a:spcPct val="100000"/>
              </a:lnSpc>
            </a:pPr>
            <a:r>
              <a:rPr lang="en-US" sz="2400" spc="-100" dirty="0">
                <a:latin typeface="Lucida Sans Unicode"/>
                <a:cs typeface="Lucida Sans Unicode"/>
              </a:rPr>
              <a:t>CONCLUSION</a:t>
            </a:r>
            <a:endParaRPr sz="2400" dirty="0">
              <a:latin typeface="Lucida Sans Unicode"/>
              <a:cs typeface="Lucida Sans Unicode"/>
            </a:endParaRPr>
          </a:p>
          <a:p>
            <a:pPr>
              <a:lnSpc>
                <a:spcPct val="100000"/>
              </a:lnSpc>
              <a:spcBef>
                <a:spcPts val="2350"/>
              </a:spcBef>
            </a:pPr>
            <a:endParaRPr sz="2400" dirty="0">
              <a:latin typeface="Lucida Sans Unicode"/>
              <a:cs typeface="Lucida Sans Unicode"/>
            </a:endParaRPr>
          </a:p>
          <a:p>
            <a:pPr algn="ctr">
              <a:lnSpc>
                <a:spcPct val="114599"/>
              </a:lnSpc>
              <a:spcBef>
                <a:spcPts val="5"/>
              </a:spcBef>
            </a:pPr>
            <a:endParaRPr lang="en-US" sz="2400" dirty="0">
              <a:latin typeface="Lucida Sans Unicode"/>
              <a:cs typeface="Lucida Sans Unicode"/>
            </a:endParaRPr>
          </a:p>
          <a:p>
            <a:pPr algn="ctr">
              <a:lnSpc>
                <a:spcPct val="114599"/>
              </a:lnSpc>
              <a:spcBef>
                <a:spcPts val="5"/>
              </a:spcBef>
            </a:pPr>
            <a:r>
              <a:rPr lang="en-US" sz="2400" dirty="0">
                <a:latin typeface="Lucida Sans Unicode"/>
                <a:cs typeface="Lucida Sans Unicode"/>
              </a:rPr>
              <a:t>ACKNOWLEGEMENT</a:t>
            </a:r>
          </a:p>
          <a:p>
            <a:pPr algn="ctr">
              <a:lnSpc>
                <a:spcPct val="114599"/>
              </a:lnSpc>
              <a:spcBef>
                <a:spcPts val="5"/>
              </a:spcBef>
            </a:pPr>
            <a:endParaRPr lang="en-US" sz="2400" dirty="0">
              <a:latin typeface="Lucida Sans Unicode"/>
              <a:cs typeface="Lucida Sans Unicode"/>
            </a:endParaRPr>
          </a:p>
          <a:p>
            <a:pPr algn="ctr">
              <a:lnSpc>
                <a:spcPct val="114599"/>
              </a:lnSpc>
              <a:spcBef>
                <a:spcPts val="5"/>
              </a:spcBef>
            </a:pPr>
            <a:endParaRPr lang="en-US" sz="2400" dirty="0">
              <a:latin typeface="Lucida Sans Unicode"/>
              <a:cs typeface="Lucida Sans Unicode"/>
            </a:endParaRPr>
          </a:p>
          <a:p>
            <a:pPr algn="ctr">
              <a:lnSpc>
                <a:spcPct val="114599"/>
              </a:lnSpc>
              <a:spcBef>
                <a:spcPts val="5"/>
              </a:spcBef>
            </a:pPr>
            <a:r>
              <a:rPr lang="en-US" sz="2400" dirty="0">
                <a:latin typeface="Lucida Sans Unicode"/>
                <a:cs typeface="Lucida Sans Unicode"/>
              </a:rPr>
              <a:t>REFERENCES</a:t>
            </a:r>
          </a:p>
          <a:p>
            <a:pPr algn="ctr">
              <a:lnSpc>
                <a:spcPct val="114599"/>
              </a:lnSpc>
              <a:spcBef>
                <a:spcPts val="5"/>
              </a:spcBef>
            </a:pPr>
            <a:endParaRPr sz="2400" dirty="0">
              <a:latin typeface="Lucida Sans Unicode"/>
              <a:cs typeface="Lucida Sans Unicode"/>
            </a:endParaRPr>
          </a:p>
        </p:txBody>
      </p:sp>
      <p:grpSp>
        <p:nvGrpSpPr>
          <p:cNvPr id="5" name="object 5"/>
          <p:cNvGrpSpPr/>
          <p:nvPr/>
        </p:nvGrpSpPr>
        <p:grpSpPr>
          <a:xfrm>
            <a:off x="2298153" y="940358"/>
            <a:ext cx="15067915" cy="7519670"/>
            <a:chOff x="2298153" y="940358"/>
            <a:chExt cx="15067915" cy="7519670"/>
          </a:xfrm>
        </p:grpSpPr>
        <p:sp>
          <p:nvSpPr>
            <p:cNvPr id="7" name="object 7"/>
            <p:cNvSpPr/>
            <p:nvPr/>
          </p:nvSpPr>
          <p:spPr>
            <a:xfrm>
              <a:off x="2298154" y="1449905"/>
              <a:ext cx="14961235" cy="6841490"/>
            </a:xfrm>
            <a:custGeom>
              <a:avLst/>
              <a:gdLst/>
              <a:ahLst/>
              <a:cxnLst/>
              <a:rect l="l" t="t" r="r" b="b"/>
              <a:pathLst>
                <a:path w="14961235" h="6841490">
                  <a:moveTo>
                    <a:pt x="19049" y="19049"/>
                  </a:moveTo>
                  <a:lnTo>
                    <a:pt x="19049" y="6822128"/>
                  </a:lnTo>
                </a:path>
                <a:path w="14961235" h="6841490">
                  <a:moveTo>
                    <a:pt x="7491289" y="19049"/>
                  </a:moveTo>
                  <a:lnTo>
                    <a:pt x="7491289" y="6822128"/>
                  </a:lnTo>
                </a:path>
                <a:path w="14961235" h="6841490">
                  <a:moveTo>
                    <a:pt x="14942094" y="19049"/>
                  </a:moveTo>
                  <a:lnTo>
                    <a:pt x="14942094" y="6822128"/>
                  </a:lnTo>
                </a:path>
                <a:path w="14961235" h="6841490">
                  <a:moveTo>
                    <a:pt x="0" y="0"/>
                  </a:moveTo>
                  <a:lnTo>
                    <a:pt x="14961144" y="0"/>
                  </a:lnTo>
                </a:path>
                <a:path w="14961235" h="6841490">
                  <a:moveTo>
                    <a:pt x="0" y="1376666"/>
                  </a:moveTo>
                  <a:lnTo>
                    <a:pt x="14961144" y="1376666"/>
                  </a:lnTo>
                </a:path>
                <a:path w="14961235" h="6841490">
                  <a:moveTo>
                    <a:pt x="0" y="2753332"/>
                  </a:moveTo>
                  <a:lnTo>
                    <a:pt x="14961144" y="2753332"/>
                  </a:lnTo>
                </a:path>
                <a:path w="14961235" h="6841490">
                  <a:moveTo>
                    <a:pt x="0" y="4153507"/>
                  </a:moveTo>
                  <a:lnTo>
                    <a:pt x="14961144" y="4153507"/>
                  </a:lnTo>
                </a:path>
                <a:path w="14961235" h="6841490">
                  <a:moveTo>
                    <a:pt x="0" y="5530174"/>
                  </a:moveTo>
                  <a:lnTo>
                    <a:pt x="14961144" y="5530174"/>
                  </a:lnTo>
                </a:path>
                <a:path w="14961235" h="6841490">
                  <a:moveTo>
                    <a:pt x="0" y="6841178"/>
                  </a:moveTo>
                  <a:lnTo>
                    <a:pt x="14961144" y="6841178"/>
                  </a:lnTo>
                </a:path>
              </a:pathLst>
            </a:custGeom>
            <a:ln w="38099">
              <a:solidFill>
                <a:srgbClr val="000000"/>
              </a:solidFill>
            </a:ln>
          </p:spPr>
          <p:txBody>
            <a:bodyPr wrap="square" lIns="0" tIns="0" rIns="0" bIns="0" rtlCol="0"/>
            <a:lstStyle/>
            <a:p>
              <a:endParaRPr/>
            </a:p>
          </p:txBody>
        </p:sp>
        <p:sp>
          <p:nvSpPr>
            <p:cNvPr id="8" name="object 8"/>
            <p:cNvSpPr/>
            <p:nvPr/>
          </p:nvSpPr>
          <p:spPr>
            <a:xfrm>
              <a:off x="2298153" y="940358"/>
              <a:ext cx="15067915" cy="7519670"/>
            </a:xfrm>
            <a:custGeom>
              <a:avLst/>
              <a:gdLst/>
              <a:ahLst/>
              <a:cxnLst/>
              <a:rect l="l" t="t" r="r" b="b"/>
              <a:pathLst>
                <a:path w="15067915" h="7519670">
                  <a:moveTo>
                    <a:pt x="459613" y="161925"/>
                  </a:moveTo>
                  <a:lnTo>
                    <a:pt x="447281" y="99961"/>
                  </a:lnTo>
                  <a:lnTo>
                    <a:pt x="412178" y="47421"/>
                  </a:lnTo>
                  <a:lnTo>
                    <a:pt x="359651" y="12319"/>
                  </a:lnTo>
                  <a:lnTo>
                    <a:pt x="297688" y="0"/>
                  </a:lnTo>
                  <a:lnTo>
                    <a:pt x="161925" y="0"/>
                  </a:lnTo>
                  <a:lnTo>
                    <a:pt x="99949" y="12319"/>
                  </a:lnTo>
                  <a:lnTo>
                    <a:pt x="47421" y="47421"/>
                  </a:lnTo>
                  <a:lnTo>
                    <a:pt x="12319" y="99961"/>
                  </a:lnTo>
                  <a:lnTo>
                    <a:pt x="0" y="161925"/>
                  </a:lnTo>
                  <a:lnTo>
                    <a:pt x="0" y="7282510"/>
                  </a:lnTo>
                  <a:lnTo>
                    <a:pt x="12319" y="7344473"/>
                  </a:lnTo>
                  <a:lnTo>
                    <a:pt x="47421" y="7397001"/>
                  </a:lnTo>
                  <a:lnTo>
                    <a:pt x="99949" y="7432103"/>
                  </a:lnTo>
                  <a:lnTo>
                    <a:pt x="153492" y="7443597"/>
                  </a:lnTo>
                  <a:lnTo>
                    <a:pt x="306108" y="7443597"/>
                  </a:lnTo>
                  <a:lnTo>
                    <a:pt x="359651" y="7432103"/>
                  </a:lnTo>
                  <a:lnTo>
                    <a:pt x="412178" y="7397001"/>
                  </a:lnTo>
                  <a:lnTo>
                    <a:pt x="447281" y="7344473"/>
                  </a:lnTo>
                  <a:lnTo>
                    <a:pt x="459613" y="7282510"/>
                  </a:lnTo>
                  <a:lnTo>
                    <a:pt x="459613" y="161925"/>
                  </a:lnTo>
                  <a:close/>
                </a:path>
                <a:path w="15067915" h="7519670">
                  <a:moveTo>
                    <a:pt x="7809649" y="411670"/>
                  </a:moveTo>
                  <a:lnTo>
                    <a:pt x="7797330" y="349707"/>
                  </a:lnTo>
                  <a:lnTo>
                    <a:pt x="7762227" y="297167"/>
                  </a:lnTo>
                  <a:lnTo>
                    <a:pt x="7709700" y="262064"/>
                  </a:lnTo>
                  <a:lnTo>
                    <a:pt x="7647724" y="249745"/>
                  </a:lnTo>
                  <a:lnTo>
                    <a:pt x="7379068" y="249745"/>
                  </a:lnTo>
                  <a:lnTo>
                    <a:pt x="7317105" y="262064"/>
                  </a:lnTo>
                  <a:lnTo>
                    <a:pt x="7264565" y="297167"/>
                  </a:lnTo>
                  <a:lnTo>
                    <a:pt x="7229462" y="349707"/>
                  </a:lnTo>
                  <a:lnTo>
                    <a:pt x="7217143" y="411670"/>
                  </a:lnTo>
                  <a:lnTo>
                    <a:pt x="7217143" y="7357148"/>
                  </a:lnTo>
                  <a:lnTo>
                    <a:pt x="7229462" y="7419111"/>
                  </a:lnTo>
                  <a:lnTo>
                    <a:pt x="7264565" y="7471651"/>
                  </a:lnTo>
                  <a:lnTo>
                    <a:pt x="7317105" y="7506754"/>
                  </a:lnTo>
                  <a:lnTo>
                    <a:pt x="7379068" y="7519073"/>
                  </a:lnTo>
                  <a:lnTo>
                    <a:pt x="7647724" y="7519073"/>
                  </a:lnTo>
                  <a:lnTo>
                    <a:pt x="7709700" y="7506754"/>
                  </a:lnTo>
                  <a:lnTo>
                    <a:pt x="7762227" y="7471651"/>
                  </a:lnTo>
                  <a:lnTo>
                    <a:pt x="7797330" y="7419111"/>
                  </a:lnTo>
                  <a:lnTo>
                    <a:pt x="7809649" y="7357148"/>
                  </a:lnTo>
                  <a:lnTo>
                    <a:pt x="7809649" y="411670"/>
                  </a:lnTo>
                  <a:close/>
                </a:path>
                <a:path w="15067915" h="7519670">
                  <a:moveTo>
                    <a:pt x="15067445" y="411670"/>
                  </a:moveTo>
                  <a:lnTo>
                    <a:pt x="15055114" y="349694"/>
                  </a:lnTo>
                  <a:lnTo>
                    <a:pt x="15020024" y="297167"/>
                  </a:lnTo>
                  <a:lnTo>
                    <a:pt x="14967484" y="262064"/>
                  </a:lnTo>
                  <a:lnTo>
                    <a:pt x="14905520" y="249745"/>
                  </a:lnTo>
                  <a:lnTo>
                    <a:pt x="14811578" y="249745"/>
                  </a:lnTo>
                  <a:lnTo>
                    <a:pt x="14749615" y="262064"/>
                  </a:lnTo>
                  <a:lnTo>
                    <a:pt x="14697075" y="297167"/>
                  </a:lnTo>
                  <a:lnTo>
                    <a:pt x="14661972" y="349694"/>
                  </a:lnTo>
                  <a:lnTo>
                    <a:pt x="14649653" y="411670"/>
                  </a:lnTo>
                  <a:lnTo>
                    <a:pt x="14649653" y="7282510"/>
                  </a:lnTo>
                  <a:lnTo>
                    <a:pt x="14661972" y="7344473"/>
                  </a:lnTo>
                  <a:lnTo>
                    <a:pt x="14697075" y="7397001"/>
                  </a:lnTo>
                  <a:lnTo>
                    <a:pt x="14749615" y="7432103"/>
                  </a:lnTo>
                  <a:lnTo>
                    <a:pt x="14811578" y="7444422"/>
                  </a:lnTo>
                  <a:lnTo>
                    <a:pt x="14905520" y="7444422"/>
                  </a:lnTo>
                  <a:lnTo>
                    <a:pt x="14967484" y="7432103"/>
                  </a:lnTo>
                  <a:lnTo>
                    <a:pt x="15020024" y="7397001"/>
                  </a:lnTo>
                  <a:lnTo>
                    <a:pt x="15055114" y="7344473"/>
                  </a:lnTo>
                  <a:lnTo>
                    <a:pt x="15067445" y="7282510"/>
                  </a:lnTo>
                  <a:lnTo>
                    <a:pt x="15067445" y="411670"/>
                  </a:lnTo>
                  <a:close/>
                </a:path>
              </a:pathLst>
            </a:custGeom>
            <a:solidFill>
              <a:srgbClr val="D9D9D9"/>
            </a:solidFill>
          </p:spPr>
          <p:txBody>
            <a:bodyPr wrap="square" lIns="0" tIns="0" rIns="0" bIns="0" rtlCol="0"/>
            <a:lstStyle/>
            <a:p>
              <a:endParaRPr/>
            </a:p>
          </p:txBody>
        </p:sp>
      </p:grpSp>
      <p:sp>
        <p:nvSpPr>
          <p:cNvPr id="9" name="object 9"/>
          <p:cNvSpPr txBox="1"/>
          <p:nvPr/>
        </p:nvSpPr>
        <p:spPr>
          <a:xfrm>
            <a:off x="126955" y="900607"/>
            <a:ext cx="1772920" cy="7984490"/>
          </a:xfrm>
          <a:prstGeom prst="rect">
            <a:avLst/>
          </a:prstGeom>
        </p:spPr>
        <p:txBody>
          <a:bodyPr vert="vert270" wrap="square" lIns="0" tIns="180340" rIns="0" bIns="0" rtlCol="0">
            <a:spAutoFit/>
          </a:bodyPr>
          <a:lstStyle/>
          <a:p>
            <a:pPr marL="12700">
              <a:lnSpc>
                <a:spcPct val="100000"/>
              </a:lnSpc>
              <a:spcBef>
                <a:spcPts val="1420"/>
              </a:spcBef>
            </a:pPr>
            <a:r>
              <a:rPr sz="9350" spc="-1155" dirty="0">
                <a:latin typeface="Trebuchet MS"/>
                <a:cs typeface="Trebuchet MS"/>
              </a:rPr>
              <a:t>TABLE</a:t>
            </a:r>
            <a:r>
              <a:rPr sz="9350" spc="-630" dirty="0">
                <a:latin typeface="Trebuchet MS"/>
                <a:cs typeface="Trebuchet MS"/>
              </a:rPr>
              <a:t> </a:t>
            </a:r>
            <a:r>
              <a:rPr sz="9350" spc="-1475" dirty="0">
                <a:latin typeface="Trebuchet MS"/>
                <a:cs typeface="Trebuchet MS"/>
              </a:rPr>
              <a:t>OF</a:t>
            </a:r>
            <a:r>
              <a:rPr sz="9350" spc="-615" dirty="0">
                <a:latin typeface="Trebuchet MS"/>
                <a:cs typeface="Trebuchet MS"/>
              </a:rPr>
              <a:t> </a:t>
            </a:r>
            <a:r>
              <a:rPr sz="9350" spc="-1470" dirty="0">
                <a:latin typeface="Trebuchet MS"/>
                <a:cs typeface="Trebuchet MS"/>
              </a:rPr>
              <a:t>CONTENT</a:t>
            </a:r>
            <a:endParaRPr sz="9350">
              <a:latin typeface="Trebuchet MS"/>
              <a:cs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19117" y="1028700"/>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sp>
        <p:nvSpPr>
          <p:cNvPr id="3" name="object 3"/>
          <p:cNvSpPr txBox="1"/>
          <p:nvPr/>
        </p:nvSpPr>
        <p:spPr>
          <a:xfrm>
            <a:off x="417308" y="3109517"/>
            <a:ext cx="13451091" cy="6032613"/>
          </a:xfrm>
          <a:prstGeom prst="rect">
            <a:avLst/>
          </a:prstGeom>
        </p:spPr>
        <p:txBody>
          <a:bodyPr vert="horz" wrap="square" lIns="0" tIns="12065" rIns="0" bIns="0" rtlCol="0">
            <a:spAutoFit/>
          </a:bodyPr>
          <a:lstStyle/>
          <a:p>
            <a:pPr marL="12700" marR="5080" algn="just">
              <a:lnSpc>
                <a:spcPct val="116500"/>
              </a:lnSpc>
              <a:spcBef>
                <a:spcPts val="95"/>
              </a:spcBef>
            </a:pPr>
            <a:r>
              <a:rPr lang="en-US" sz="3050" dirty="0">
                <a:latin typeface="Lucida Sans Unicode"/>
                <a:cs typeface="Lucida Sans Unicode"/>
              </a:rPr>
              <a:t>Software systems increasingly rely on external libraries and </a:t>
            </a:r>
            <a:r>
              <a:rPr lang="en-US" sz="3050" dirty="0" err="1">
                <a:latin typeface="Lucida Sans Unicode"/>
                <a:cs typeface="Lucida Sans Unicode"/>
              </a:rPr>
              <a:t>rameworks</a:t>
            </a:r>
            <a:r>
              <a:rPr lang="en-US" sz="3050" dirty="0">
                <a:latin typeface="Lucida Sans Unicode"/>
                <a:cs typeface="Lucida Sans Unicode"/>
              </a:rPr>
              <a:t> to accelerate development and functionality. These external components, known as software dependencies, are managed through package repositories such as </a:t>
            </a:r>
            <a:r>
              <a:rPr lang="en-US" sz="3050" dirty="0" err="1">
                <a:latin typeface="Lucida Sans Unicode"/>
                <a:cs typeface="Lucida Sans Unicode"/>
              </a:rPr>
              <a:t>PyPI</a:t>
            </a:r>
            <a:r>
              <a:rPr lang="en-US" sz="3050" dirty="0">
                <a:latin typeface="Lucida Sans Unicode"/>
                <a:cs typeface="Lucida Sans Unicode"/>
              </a:rPr>
              <a:t> and </a:t>
            </a:r>
            <a:r>
              <a:rPr lang="en-US" sz="3050" dirty="0" err="1">
                <a:latin typeface="Lucida Sans Unicode"/>
                <a:cs typeface="Lucida Sans Unicode"/>
              </a:rPr>
              <a:t>npm</a:t>
            </a:r>
            <a:r>
              <a:rPr lang="en-US" sz="3050" dirty="0">
                <a:latin typeface="Lucida Sans Unicode"/>
                <a:cs typeface="Lucida Sans Unicode"/>
              </a:rPr>
              <a:t>. While dependency reuse improves productivity, it also introduces dependency version conflicts, which occur when incompatible library versions are required simultaneously. Traditional dependency resolution techniques rely on static rules and constraint-solving methods, which often fail to scale in complex ecosystems. This project proposes a machine learning–based approach to predict and resolve dependency version conflicts using learned patterns from historical dependency data.</a:t>
            </a:r>
          </a:p>
        </p:txBody>
      </p:sp>
      <p:pic>
        <p:nvPicPr>
          <p:cNvPr id="8" name="object 8"/>
          <p:cNvPicPr/>
          <p:nvPr/>
        </p:nvPicPr>
        <p:blipFill>
          <a:blip r:embed="rId2" cstate="print"/>
          <a:stretch>
            <a:fillRect/>
          </a:stretch>
        </p:blipFill>
        <p:spPr>
          <a:xfrm>
            <a:off x="14249400" y="916242"/>
            <a:ext cx="3810000" cy="8343898"/>
          </a:xfrm>
          <a:prstGeom prst="rect">
            <a:avLst/>
          </a:prstGeom>
        </p:spPr>
      </p:pic>
      <p:sp>
        <p:nvSpPr>
          <p:cNvPr id="9" name="object 9"/>
          <p:cNvSpPr txBox="1">
            <a:spLocks noGrp="1"/>
          </p:cNvSpPr>
          <p:nvPr>
            <p:ph type="title"/>
          </p:nvPr>
        </p:nvSpPr>
        <p:spPr>
          <a:xfrm>
            <a:off x="1606777" y="1050978"/>
            <a:ext cx="9768205" cy="1183657"/>
          </a:xfrm>
          <a:prstGeom prst="rect">
            <a:avLst/>
          </a:prstGeom>
        </p:spPr>
        <p:txBody>
          <a:bodyPr vert="horz" wrap="square" lIns="0" tIns="13970" rIns="0" bIns="0" rtlCol="0">
            <a:spAutoFit/>
          </a:bodyPr>
          <a:lstStyle/>
          <a:p>
            <a:pPr marL="12700">
              <a:lnSpc>
                <a:spcPct val="100000"/>
              </a:lnSpc>
              <a:spcBef>
                <a:spcPts val="110"/>
              </a:spcBef>
              <a:tabLst>
                <a:tab pos="1590675" algn="l"/>
              </a:tabLst>
            </a:pPr>
            <a:r>
              <a:rPr lang="en-US" sz="11325" spc="-1320" baseline="2943" dirty="0">
                <a:solidFill>
                  <a:srgbClr val="FFFFFF"/>
                </a:solidFill>
              </a:rPr>
              <a:t>01</a:t>
            </a:r>
            <a:r>
              <a:rPr lang="en-US" sz="11325" baseline="2943" dirty="0">
                <a:solidFill>
                  <a:srgbClr val="FFFFFF"/>
                </a:solidFill>
              </a:rPr>
              <a:t>	</a:t>
            </a:r>
            <a:r>
              <a:rPr lang="en-US" sz="7600" spc="-1035" dirty="0"/>
              <a:t>INTRODUCTION</a:t>
            </a:r>
            <a:endParaRPr sz="7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1028700"/>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sp>
        <p:nvSpPr>
          <p:cNvPr id="16" name="object 16"/>
          <p:cNvSpPr txBox="1">
            <a:spLocks noGrp="1"/>
          </p:cNvSpPr>
          <p:nvPr>
            <p:ph type="title"/>
          </p:nvPr>
        </p:nvSpPr>
        <p:spPr>
          <a:xfrm>
            <a:off x="1438225" y="1030443"/>
            <a:ext cx="9344025" cy="1185545"/>
          </a:xfrm>
          <a:prstGeom prst="rect">
            <a:avLst/>
          </a:prstGeom>
        </p:spPr>
        <p:txBody>
          <a:bodyPr vert="horz" wrap="square" lIns="0" tIns="13970" rIns="0" bIns="0" rtlCol="0">
            <a:spAutoFit/>
          </a:bodyPr>
          <a:lstStyle/>
          <a:p>
            <a:pPr marL="12700">
              <a:lnSpc>
                <a:spcPct val="100000"/>
              </a:lnSpc>
              <a:spcBef>
                <a:spcPts val="110"/>
              </a:spcBef>
              <a:tabLst>
                <a:tab pos="1689735" algn="l"/>
              </a:tabLst>
            </a:pPr>
            <a:r>
              <a:rPr sz="11325" spc="-37" baseline="1839" dirty="0">
                <a:solidFill>
                  <a:srgbClr val="FFFFFF"/>
                </a:solidFill>
              </a:rPr>
              <a:t>02</a:t>
            </a:r>
            <a:r>
              <a:rPr sz="11325" baseline="1839" dirty="0">
                <a:solidFill>
                  <a:srgbClr val="FFFFFF"/>
                </a:solidFill>
              </a:rPr>
              <a:t>	</a:t>
            </a:r>
            <a:r>
              <a:rPr sz="7600" spc="-745" dirty="0"/>
              <a:t>PROBLEM</a:t>
            </a:r>
            <a:r>
              <a:rPr sz="7600" spc="-480" dirty="0"/>
              <a:t> </a:t>
            </a:r>
            <a:r>
              <a:rPr sz="7600" spc="-900" dirty="0"/>
              <a:t>STATEMENT</a:t>
            </a:r>
            <a:endParaRPr sz="7600" dirty="0"/>
          </a:p>
        </p:txBody>
      </p:sp>
      <p:sp>
        <p:nvSpPr>
          <p:cNvPr id="20" name="TextBox 19">
            <a:extLst>
              <a:ext uri="{FF2B5EF4-FFF2-40B4-BE49-F238E27FC236}">
                <a16:creationId xmlns:a16="http://schemas.microsoft.com/office/drawing/2014/main" id="{EB4710CD-53A7-40BE-B223-1182B524CFE4}"/>
              </a:ext>
            </a:extLst>
          </p:cNvPr>
          <p:cNvSpPr txBox="1"/>
          <p:nvPr/>
        </p:nvSpPr>
        <p:spPr>
          <a:xfrm>
            <a:off x="1600200" y="3162300"/>
            <a:ext cx="13258800" cy="6186309"/>
          </a:xfrm>
          <a:prstGeom prst="rect">
            <a:avLst/>
          </a:prstGeom>
          <a:noFill/>
        </p:spPr>
        <p:txBody>
          <a:bodyPr wrap="square" rtlCol="0">
            <a:spAutoFit/>
          </a:bodyPr>
          <a:lstStyle/>
          <a:p>
            <a:r>
              <a:rPr lang="en-US" sz="3600" dirty="0">
                <a:latin typeface="Lucida Sans" panose="020B0602030504020204" pitchFamily="34" charset="0"/>
              </a:rPr>
              <a:t>Dependency version conflicts remain a major challenge in modern software development. Existing dependency management systems lack intelligence and adaptability, as they do not learn from past conflict occurrences. As software ecosystems grow larger and more interconnected, traditional resolution techniques become inefficient, leading to build failures, runtime errors, and increased maintenance costs. There is therefore a need for an intelligent system capable of predicting dependency conflicts before deployment and assisting developers in selecting compatible versions automatically.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1028700"/>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pic>
        <p:nvPicPr>
          <p:cNvPr id="3" name="object 3"/>
          <p:cNvPicPr/>
          <p:nvPr/>
        </p:nvPicPr>
        <p:blipFill>
          <a:blip r:embed="rId2" cstate="print"/>
          <a:stretch>
            <a:fillRect/>
          </a:stretch>
        </p:blipFill>
        <p:spPr>
          <a:xfrm>
            <a:off x="12212771" y="1028700"/>
            <a:ext cx="5048249" cy="5048249"/>
          </a:xfrm>
          <a:prstGeom prst="rect">
            <a:avLst/>
          </a:prstGeom>
        </p:spPr>
      </p:pic>
      <p:sp>
        <p:nvSpPr>
          <p:cNvPr id="4" name="object 4"/>
          <p:cNvSpPr txBox="1">
            <a:spLocks noGrp="1"/>
          </p:cNvSpPr>
          <p:nvPr>
            <p:ph type="title"/>
          </p:nvPr>
        </p:nvSpPr>
        <p:spPr>
          <a:xfrm>
            <a:off x="1438225" y="1050978"/>
            <a:ext cx="9105900" cy="1185545"/>
          </a:xfrm>
          <a:prstGeom prst="rect">
            <a:avLst/>
          </a:prstGeom>
        </p:spPr>
        <p:txBody>
          <a:bodyPr vert="horz" wrap="square" lIns="0" tIns="13970" rIns="0" bIns="0" rtlCol="0">
            <a:spAutoFit/>
          </a:bodyPr>
          <a:lstStyle/>
          <a:p>
            <a:pPr marL="12700">
              <a:lnSpc>
                <a:spcPct val="100000"/>
              </a:lnSpc>
              <a:spcBef>
                <a:spcPts val="110"/>
              </a:spcBef>
              <a:tabLst>
                <a:tab pos="1664970" algn="l"/>
              </a:tabLst>
            </a:pPr>
            <a:r>
              <a:rPr sz="11325" spc="-37" baseline="2943" dirty="0">
                <a:solidFill>
                  <a:srgbClr val="FFFFFF"/>
                </a:solidFill>
              </a:rPr>
              <a:t>0</a:t>
            </a:r>
            <a:r>
              <a:rPr lang="en-US" sz="11325" spc="-37" baseline="2943" dirty="0">
                <a:solidFill>
                  <a:srgbClr val="FFFFFF"/>
                </a:solidFill>
              </a:rPr>
              <a:t>3</a:t>
            </a:r>
            <a:r>
              <a:rPr sz="11325" baseline="2943" dirty="0">
                <a:solidFill>
                  <a:srgbClr val="FFFFFF"/>
                </a:solidFill>
              </a:rPr>
              <a:t>	</a:t>
            </a:r>
            <a:r>
              <a:rPr sz="7600" spc="-320" dirty="0"/>
              <a:t>AIM</a:t>
            </a:r>
            <a:r>
              <a:rPr sz="7600" spc="-505" dirty="0"/>
              <a:t> </a:t>
            </a:r>
            <a:r>
              <a:rPr sz="7600" spc="-940" dirty="0"/>
              <a:t>AND</a:t>
            </a:r>
            <a:r>
              <a:rPr sz="7600" spc="-505" dirty="0"/>
              <a:t> </a:t>
            </a:r>
            <a:r>
              <a:rPr sz="7600" spc="-819" dirty="0"/>
              <a:t>OBJECTIVES</a:t>
            </a:r>
            <a:endParaRPr sz="7600" dirty="0"/>
          </a:p>
        </p:txBody>
      </p:sp>
      <p:sp>
        <p:nvSpPr>
          <p:cNvPr id="5" name="object 5"/>
          <p:cNvSpPr txBox="1"/>
          <p:nvPr/>
        </p:nvSpPr>
        <p:spPr>
          <a:xfrm>
            <a:off x="1159540" y="2741317"/>
            <a:ext cx="1200785" cy="681355"/>
          </a:xfrm>
          <a:prstGeom prst="rect">
            <a:avLst/>
          </a:prstGeom>
        </p:spPr>
        <p:txBody>
          <a:bodyPr vert="horz" wrap="square" lIns="0" tIns="12700" rIns="0" bIns="0" rtlCol="0">
            <a:spAutoFit/>
          </a:bodyPr>
          <a:lstStyle/>
          <a:p>
            <a:pPr marL="12700">
              <a:lnSpc>
                <a:spcPct val="100000"/>
              </a:lnSpc>
              <a:spcBef>
                <a:spcPts val="100"/>
              </a:spcBef>
            </a:pPr>
            <a:r>
              <a:rPr sz="4300" spc="-20" dirty="0">
                <a:latin typeface="Lucida Sans Unicode"/>
                <a:cs typeface="Lucida Sans Unicode"/>
              </a:rPr>
              <a:t>AIM:</a:t>
            </a:r>
            <a:endParaRPr sz="4300">
              <a:latin typeface="Lucida Sans Unicode"/>
              <a:cs typeface="Lucida Sans Unicode"/>
            </a:endParaRPr>
          </a:p>
        </p:txBody>
      </p:sp>
      <p:sp>
        <p:nvSpPr>
          <p:cNvPr id="6" name="object 6"/>
          <p:cNvSpPr txBox="1"/>
          <p:nvPr/>
        </p:nvSpPr>
        <p:spPr>
          <a:xfrm>
            <a:off x="2807876" y="2698425"/>
            <a:ext cx="7502525" cy="1978106"/>
          </a:xfrm>
          <a:prstGeom prst="rect">
            <a:avLst/>
          </a:prstGeom>
        </p:spPr>
        <p:txBody>
          <a:bodyPr vert="horz" wrap="square" lIns="0" tIns="12065" rIns="0" bIns="0" rtlCol="0">
            <a:spAutoFit/>
          </a:bodyPr>
          <a:lstStyle/>
          <a:p>
            <a:pPr marL="12700" marR="5080">
              <a:lnSpc>
                <a:spcPct val="114999"/>
              </a:lnSpc>
              <a:spcBef>
                <a:spcPts val="95"/>
              </a:spcBef>
            </a:pPr>
            <a:r>
              <a:rPr sz="2800" spc="-135" dirty="0">
                <a:latin typeface="Lucida Sans Unicode"/>
                <a:cs typeface="Lucida Sans Unicode"/>
              </a:rPr>
              <a:t>T</a:t>
            </a:r>
            <a:r>
              <a:rPr lang="en-US" sz="2800" spc="-135" dirty="0">
                <a:latin typeface="Lucida Sans Unicode"/>
                <a:cs typeface="Lucida Sans Unicode"/>
              </a:rPr>
              <a:t>he aim of this project is to develop a machine learning-based system for predicting and resolving dependency version conflicts in software projects</a:t>
            </a:r>
            <a:endParaRPr sz="2800" dirty="0">
              <a:latin typeface="Lucida Sans Unicode"/>
              <a:cs typeface="Lucida Sans Unicode"/>
            </a:endParaRPr>
          </a:p>
        </p:txBody>
      </p:sp>
      <p:sp>
        <p:nvSpPr>
          <p:cNvPr id="7" name="object 7"/>
          <p:cNvSpPr txBox="1"/>
          <p:nvPr/>
        </p:nvSpPr>
        <p:spPr>
          <a:xfrm>
            <a:off x="471402" y="5039740"/>
            <a:ext cx="3199130" cy="681355"/>
          </a:xfrm>
          <a:prstGeom prst="rect">
            <a:avLst/>
          </a:prstGeom>
        </p:spPr>
        <p:txBody>
          <a:bodyPr vert="horz" wrap="square" lIns="0" tIns="12700" rIns="0" bIns="0" rtlCol="0">
            <a:spAutoFit/>
          </a:bodyPr>
          <a:lstStyle/>
          <a:p>
            <a:pPr marL="12700">
              <a:lnSpc>
                <a:spcPct val="100000"/>
              </a:lnSpc>
              <a:spcBef>
                <a:spcPts val="100"/>
              </a:spcBef>
            </a:pPr>
            <a:r>
              <a:rPr sz="4300" spc="-25" dirty="0">
                <a:latin typeface="Lucida Sans Unicode"/>
                <a:cs typeface="Lucida Sans Unicode"/>
              </a:rPr>
              <a:t>OBJECTIVES:</a:t>
            </a:r>
            <a:endParaRPr sz="4300">
              <a:latin typeface="Lucida Sans Unicode"/>
              <a:cs typeface="Lucida Sans Unicode"/>
            </a:endParaRPr>
          </a:p>
        </p:txBody>
      </p:sp>
      <p:sp>
        <p:nvSpPr>
          <p:cNvPr id="8" name="object 8"/>
          <p:cNvSpPr/>
          <p:nvPr/>
        </p:nvSpPr>
        <p:spPr>
          <a:xfrm>
            <a:off x="1172240" y="6294633"/>
            <a:ext cx="3415029" cy="2766695"/>
          </a:xfrm>
          <a:custGeom>
            <a:avLst/>
            <a:gdLst/>
            <a:ahLst/>
            <a:cxnLst/>
            <a:rect l="l" t="t" r="r" b="b"/>
            <a:pathLst>
              <a:path w="3415029" h="2766695">
                <a:moveTo>
                  <a:pt x="3066585" y="2766593"/>
                </a:moveTo>
                <a:lnTo>
                  <a:pt x="352425" y="2766593"/>
                </a:lnTo>
                <a:lnTo>
                  <a:pt x="306100" y="2763537"/>
                </a:lnTo>
                <a:lnTo>
                  <a:pt x="260962" y="2754519"/>
                </a:lnTo>
                <a:lnTo>
                  <a:pt x="217557" y="2739766"/>
                </a:lnTo>
                <a:lnTo>
                  <a:pt x="176434" y="2719506"/>
                </a:lnTo>
                <a:lnTo>
                  <a:pt x="138140" y="2693965"/>
                </a:lnTo>
                <a:lnTo>
                  <a:pt x="103222" y="2663370"/>
                </a:lnTo>
                <a:lnTo>
                  <a:pt x="72627" y="2628453"/>
                </a:lnTo>
                <a:lnTo>
                  <a:pt x="47086" y="2590159"/>
                </a:lnTo>
                <a:lnTo>
                  <a:pt x="26826" y="2549035"/>
                </a:lnTo>
                <a:lnTo>
                  <a:pt x="12074" y="2505631"/>
                </a:lnTo>
                <a:lnTo>
                  <a:pt x="3056" y="2460492"/>
                </a:lnTo>
                <a:lnTo>
                  <a:pt x="0" y="2414168"/>
                </a:lnTo>
                <a:lnTo>
                  <a:pt x="0" y="352425"/>
                </a:lnTo>
                <a:lnTo>
                  <a:pt x="3056" y="306100"/>
                </a:lnTo>
                <a:lnTo>
                  <a:pt x="12074" y="260962"/>
                </a:lnTo>
                <a:lnTo>
                  <a:pt x="26826" y="217557"/>
                </a:lnTo>
                <a:lnTo>
                  <a:pt x="47086" y="176434"/>
                </a:lnTo>
                <a:lnTo>
                  <a:pt x="72627" y="138140"/>
                </a:lnTo>
                <a:lnTo>
                  <a:pt x="103222" y="103222"/>
                </a:lnTo>
                <a:lnTo>
                  <a:pt x="138140" y="72627"/>
                </a:lnTo>
                <a:lnTo>
                  <a:pt x="176434" y="47086"/>
                </a:lnTo>
                <a:lnTo>
                  <a:pt x="217557" y="26826"/>
                </a:lnTo>
                <a:lnTo>
                  <a:pt x="260962" y="12074"/>
                </a:lnTo>
                <a:lnTo>
                  <a:pt x="306100" y="3056"/>
                </a:lnTo>
                <a:lnTo>
                  <a:pt x="352425" y="0"/>
                </a:lnTo>
                <a:lnTo>
                  <a:pt x="3066585" y="0"/>
                </a:lnTo>
                <a:lnTo>
                  <a:pt x="3112909" y="3056"/>
                </a:lnTo>
                <a:lnTo>
                  <a:pt x="3158048" y="12074"/>
                </a:lnTo>
                <a:lnTo>
                  <a:pt x="3201452" y="26826"/>
                </a:lnTo>
                <a:lnTo>
                  <a:pt x="3242576" y="47086"/>
                </a:lnTo>
                <a:lnTo>
                  <a:pt x="3280870" y="72627"/>
                </a:lnTo>
                <a:lnTo>
                  <a:pt x="3315787" y="103222"/>
                </a:lnTo>
                <a:lnTo>
                  <a:pt x="3346382" y="138140"/>
                </a:lnTo>
                <a:lnTo>
                  <a:pt x="3371923" y="176434"/>
                </a:lnTo>
                <a:lnTo>
                  <a:pt x="3392184" y="217557"/>
                </a:lnTo>
                <a:lnTo>
                  <a:pt x="3406936" y="260962"/>
                </a:lnTo>
                <a:lnTo>
                  <a:pt x="3415014" y="301393"/>
                </a:lnTo>
                <a:lnTo>
                  <a:pt x="3415014" y="2465199"/>
                </a:lnTo>
                <a:lnTo>
                  <a:pt x="3406936" y="2505631"/>
                </a:lnTo>
                <a:lnTo>
                  <a:pt x="3392184" y="2549035"/>
                </a:lnTo>
                <a:lnTo>
                  <a:pt x="3371923" y="2590159"/>
                </a:lnTo>
                <a:lnTo>
                  <a:pt x="3346382" y="2628453"/>
                </a:lnTo>
                <a:lnTo>
                  <a:pt x="3315787" y="2663370"/>
                </a:lnTo>
                <a:lnTo>
                  <a:pt x="3280870" y="2693965"/>
                </a:lnTo>
                <a:lnTo>
                  <a:pt x="3242576" y="2719506"/>
                </a:lnTo>
                <a:lnTo>
                  <a:pt x="3201452" y="2739766"/>
                </a:lnTo>
                <a:lnTo>
                  <a:pt x="3158048" y="2754519"/>
                </a:lnTo>
                <a:lnTo>
                  <a:pt x="3112909" y="2763537"/>
                </a:lnTo>
                <a:lnTo>
                  <a:pt x="3066585" y="2766593"/>
                </a:lnTo>
                <a:close/>
              </a:path>
            </a:pathLst>
          </a:custGeom>
          <a:solidFill>
            <a:srgbClr val="212121"/>
          </a:solidFill>
        </p:spPr>
        <p:txBody>
          <a:bodyPr wrap="square" lIns="0" tIns="0" rIns="0" bIns="0" rtlCol="0"/>
          <a:lstStyle/>
          <a:p>
            <a:endParaRPr dirty="0"/>
          </a:p>
        </p:txBody>
      </p:sp>
      <p:sp>
        <p:nvSpPr>
          <p:cNvPr id="9" name="object 9"/>
          <p:cNvSpPr txBox="1"/>
          <p:nvPr/>
        </p:nvSpPr>
        <p:spPr>
          <a:xfrm>
            <a:off x="1356043" y="6598045"/>
            <a:ext cx="3051175" cy="1392625"/>
          </a:xfrm>
          <a:prstGeom prst="rect">
            <a:avLst/>
          </a:prstGeom>
        </p:spPr>
        <p:txBody>
          <a:bodyPr vert="horz" wrap="square" lIns="0" tIns="12065" rIns="0" bIns="0" rtlCol="0">
            <a:spAutoFit/>
          </a:bodyPr>
          <a:lstStyle/>
          <a:p>
            <a:pPr marL="12700" marR="5080" indent="294640">
              <a:lnSpc>
                <a:spcPct val="116199"/>
              </a:lnSpc>
              <a:spcBef>
                <a:spcPts val="95"/>
              </a:spcBef>
            </a:pPr>
            <a:r>
              <a:rPr sz="1950" spc="-285" dirty="0">
                <a:solidFill>
                  <a:srgbClr val="FFFFFF"/>
                </a:solidFill>
                <a:latin typeface="Lucida Sans Unicode"/>
                <a:cs typeface="Lucida Sans Unicode"/>
              </a:rPr>
              <a:t>1.</a:t>
            </a:r>
            <a:r>
              <a:rPr lang="en-US" sz="1950" spc="-285" dirty="0">
                <a:solidFill>
                  <a:srgbClr val="FFFFFF"/>
                </a:solidFill>
                <a:latin typeface="Lucida Sans Unicode"/>
                <a:cs typeface="Lucida Sans Unicode"/>
              </a:rPr>
              <a:t> </a:t>
            </a:r>
            <a:r>
              <a:rPr lang="en-US" sz="1950" dirty="0">
                <a:solidFill>
                  <a:srgbClr val="FFFFFF"/>
                </a:solidFill>
                <a:latin typeface="Lucida Sans Unicode"/>
                <a:cs typeface="Lucida Sans Unicode"/>
              </a:rPr>
              <a:t>To analyze patterns of dependency version conflicts in software repositories.</a:t>
            </a:r>
            <a:endParaRPr sz="1950" dirty="0">
              <a:latin typeface="Lucida Sans Unicode"/>
              <a:cs typeface="Lucida Sans Unicode"/>
            </a:endParaRPr>
          </a:p>
        </p:txBody>
      </p:sp>
      <p:sp>
        <p:nvSpPr>
          <p:cNvPr id="10" name="object 10"/>
          <p:cNvSpPr/>
          <p:nvPr/>
        </p:nvSpPr>
        <p:spPr>
          <a:xfrm>
            <a:off x="5394923" y="6294633"/>
            <a:ext cx="3415029" cy="2766695"/>
          </a:xfrm>
          <a:custGeom>
            <a:avLst/>
            <a:gdLst/>
            <a:ahLst/>
            <a:cxnLst/>
            <a:rect l="l" t="t" r="r" b="b"/>
            <a:pathLst>
              <a:path w="3415029" h="2766695">
                <a:moveTo>
                  <a:pt x="3066585" y="2766593"/>
                </a:moveTo>
                <a:lnTo>
                  <a:pt x="352425" y="2766593"/>
                </a:lnTo>
                <a:lnTo>
                  <a:pt x="306100" y="2763537"/>
                </a:lnTo>
                <a:lnTo>
                  <a:pt x="260962" y="2754519"/>
                </a:lnTo>
                <a:lnTo>
                  <a:pt x="217557" y="2739766"/>
                </a:lnTo>
                <a:lnTo>
                  <a:pt x="176434" y="2719506"/>
                </a:lnTo>
                <a:lnTo>
                  <a:pt x="138140" y="2693965"/>
                </a:lnTo>
                <a:lnTo>
                  <a:pt x="103222" y="2663370"/>
                </a:lnTo>
                <a:lnTo>
                  <a:pt x="72627" y="2628453"/>
                </a:lnTo>
                <a:lnTo>
                  <a:pt x="47086" y="2590159"/>
                </a:lnTo>
                <a:lnTo>
                  <a:pt x="26826" y="2549035"/>
                </a:lnTo>
                <a:lnTo>
                  <a:pt x="12074" y="2505631"/>
                </a:lnTo>
                <a:lnTo>
                  <a:pt x="3056" y="2460492"/>
                </a:lnTo>
                <a:lnTo>
                  <a:pt x="0" y="2414168"/>
                </a:lnTo>
                <a:lnTo>
                  <a:pt x="0" y="352425"/>
                </a:lnTo>
                <a:lnTo>
                  <a:pt x="3056" y="306100"/>
                </a:lnTo>
                <a:lnTo>
                  <a:pt x="12074" y="260962"/>
                </a:lnTo>
                <a:lnTo>
                  <a:pt x="26826" y="217557"/>
                </a:lnTo>
                <a:lnTo>
                  <a:pt x="47086" y="176434"/>
                </a:lnTo>
                <a:lnTo>
                  <a:pt x="72627" y="138140"/>
                </a:lnTo>
                <a:lnTo>
                  <a:pt x="103222" y="103222"/>
                </a:lnTo>
                <a:lnTo>
                  <a:pt x="138140" y="72627"/>
                </a:lnTo>
                <a:lnTo>
                  <a:pt x="176434" y="47086"/>
                </a:lnTo>
                <a:lnTo>
                  <a:pt x="217557" y="26826"/>
                </a:lnTo>
                <a:lnTo>
                  <a:pt x="260962" y="12074"/>
                </a:lnTo>
                <a:lnTo>
                  <a:pt x="306100" y="3056"/>
                </a:lnTo>
                <a:lnTo>
                  <a:pt x="352425" y="0"/>
                </a:lnTo>
                <a:lnTo>
                  <a:pt x="3066585" y="0"/>
                </a:lnTo>
                <a:lnTo>
                  <a:pt x="3112909" y="3056"/>
                </a:lnTo>
                <a:lnTo>
                  <a:pt x="3158048" y="12074"/>
                </a:lnTo>
                <a:lnTo>
                  <a:pt x="3201452" y="26826"/>
                </a:lnTo>
                <a:lnTo>
                  <a:pt x="3242575" y="47086"/>
                </a:lnTo>
                <a:lnTo>
                  <a:pt x="3280870" y="72627"/>
                </a:lnTo>
                <a:lnTo>
                  <a:pt x="3315787" y="103222"/>
                </a:lnTo>
                <a:lnTo>
                  <a:pt x="3346382" y="138140"/>
                </a:lnTo>
                <a:lnTo>
                  <a:pt x="3371923" y="176434"/>
                </a:lnTo>
                <a:lnTo>
                  <a:pt x="3392184" y="217557"/>
                </a:lnTo>
                <a:lnTo>
                  <a:pt x="3406936" y="260962"/>
                </a:lnTo>
                <a:lnTo>
                  <a:pt x="3415014" y="301393"/>
                </a:lnTo>
                <a:lnTo>
                  <a:pt x="3415014" y="2465199"/>
                </a:lnTo>
                <a:lnTo>
                  <a:pt x="3406936" y="2505631"/>
                </a:lnTo>
                <a:lnTo>
                  <a:pt x="3392184" y="2549035"/>
                </a:lnTo>
                <a:lnTo>
                  <a:pt x="3371923" y="2590159"/>
                </a:lnTo>
                <a:lnTo>
                  <a:pt x="3346382" y="2628453"/>
                </a:lnTo>
                <a:lnTo>
                  <a:pt x="3315787" y="2663370"/>
                </a:lnTo>
                <a:lnTo>
                  <a:pt x="3280870" y="2693965"/>
                </a:lnTo>
                <a:lnTo>
                  <a:pt x="3242575" y="2719506"/>
                </a:lnTo>
                <a:lnTo>
                  <a:pt x="3201452" y="2739766"/>
                </a:lnTo>
                <a:lnTo>
                  <a:pt x="3158048" y="2754519"/>
                </a:lnTo>
                <a:lnTo>
                  <a:pt x="3112909" y="2763537"/>
                </a:lnTo>
                <a:lnTo>
                  <a:pt x="3066585" y="2766593"/>
                </a:lnTo>
                <a:close/>
              </a:path>
            </a:pathLst>
          </a:custGeom>
          <a:solidFill>
            <a:srgbClr val="212121"/>
          </a:solidFill>
        </p:spPr>
        <p:txBody>
          <a:bodyPr wrap="square" lIns="0" tIns="0" rIns="0" bIns="0" rtlCol="0"/>
          <a:lstStyle/>
          <a:p>
            <a:endParaRPr/>
          </a:p>
        </p:txBody>
      </p:sp>
      <p:sp>
        <p:nvSpPr>
          <p:cNvPr id="11" name="object 11"/>
          <p:cNvSpPr txBox="1"/>
          <p:nvPr/>
        </p:nvSpPr>
        <p:spPr>
          <a:xfrm>
            <a:off x="5527095" y="6598045"/>
            <a:ext cx="3154680" cy="1044517"/>
          </a:xfrm>
          <a:prstGeom prst="rect">
            <a:avLst/>
          </a:prstGeom>
        </p:spPr>
        <p:txBody>
          <a:bodyPr vert="horz" wrap="square" lIns="0" tIns="12065" rIns="0" bIns="0" rtlCol="0">
            <a:spAutoFit/>
          </a:bodyPr>
          <a:lstStyle/>
          <a:p>
            <a:pPr marL="100965" marR="93345" indent="320675">
              <a:lnSpc>
                <a:spcPct val="116199"/>
              </a:lnSpc>
              <a:spcBef>
                <a:spcPts val="95"/>
              </a:spcBef>
            </a:pPr>
            <a:r>
              <a:rPr sz="1950" spc="-10" dirty="0">
                <a:solidFill>
                  <a:srgbClr val="FFFFFF"/>
                </a:solidFill>
                <a:latin typeface="Lucida Sans Unicode"/>
                <a:cs typeface="Lucida Sans Unicode"/>
              </a:rPr>
              <a:t>2.</a:t>
            </a:r>
            <a:r>
              <a:rPr sz="1950" spc="-130" dirty="0">
                <a:solidFill>
                  <a:srgbClr val="FFFFFF"/>
                </a:solidFill>
                <a:latin typeface="Lucida Sans Unicode"/>
                <a:cs typeface="Lucida Sans Unicode"/>
              </a:rPr>
              <a:t> </a:t>
            </a:r>
            <a:r>
              <a:rPr lang="en-US" sz="1950" spc="-125" dirty="0">
                <a:solidFill>
                  <a:srgbClr val="FFFFFF"/>
                </a:solidFill>
                <a:latin typeface="Lucida Sans Unicode"/>
                <a:cs typeface="Lucida Sans Unicode"/>
              </a:rPr>
              <a:t>To model software dependencies using graph-based representations.</a:t>
            </a:r>
            <a:endParaRPr sz="1950" dirty="0">
              <a:latin typeface="Lucida Sans Unicode"/>
              <a:cs typeface="Lucida Sans Unicode"/>
            </a:endParaRPr>
          </a:p>
        </p:txBody>
      </p:sp>
      <p:sp>
        <p:nvSpPr>
          <p:cNvPr id="12" name="object 12"/>
          <p:cNvSpPr/>
          <p:nvPr/>
        </p:nvSpPr>
        <p:spPr>
          <a:xfrm>
            <a:off x="9617605" y="6294633"/>
            <a:ext cx="3415029" cy="2766695"/>
          </a:xfrm>
          <a:custGeom>
            <a:avLst/>
            <a:gdLst/>
            <a:ahLst/>
            <a:cxnLst/>
            <a:rect l="l" t="t" r="r" b="b"/>
            <a:pathLst>
              <a:path w="3415030" h="2766695">
                <a:moveTo>
                  <a:pt x="3066585" y="2766593"/>
                </a:moveTo>
                <a:lnTo>
                  <a:pt x="352425" y="2766593"/>
                </a:lnTo>
                <a:lnTo>
                  <a:pt x="306100" y="2763537"/>
                </a:lnTo>
                <a:lnTo>
                  <a:pt x="260962" y="2754519"/>
                </a:lnTo>
                <a:lnTo>
                  <a:pt x="217557" y="2739766"/>
                </a:lnTo>
                <a:lnTo>
                  <a:pt x="176434" y="2719506"/>
                </a:lnTo>
                <a:lnTo>
                  <a:pt x="138140" y="2693965"/>
                </a:lnTo>
                <a:lnTo>
                  <a:pt x="103222" y="2663370"/>
                </a:lnTo>
                <a:lnTo>
                  <a:pt x="72628" y="2628453"/>
                </a:lnTo>
                <a:lnTo>
                  <a:pt x="47087" y="2590159"/>
                </a:lnTo>
                <a:lnTo>
                  <a:pt x="26827" y="2549035"/>
                </a:lnTo>
                <a:lnTo>
                  <a:pt x="12074" y="2505631"/>
                </a:lnTo>
                <a:lnTo>
                  <a:pt x="3056" y="2460492"/>
                </a:lnTo>
                <a:lnTo>
                  <a:pt x="0" y="2414168"/>
                </a:lnTo>
                <a:lnTo>
                  <a:pt x="0" y="352425"/>
                </a:lnTo>
                <a:lnTo>
                  <a:pt x="3056" y="306100"/>
                </a:lnTo>
                <a:lnTo>
                  <a:pt x="12074" y="260962"/>
                </a:lnTo>
                <a:lnTo>
                  <a:pt x="26827" y="217557"/>
                </a:lnTo>
                <a:lnTo>
                  <a:pt x="47087" y="176434"/>
                </a:lnTo>
                <a:lnTo>
                  <a:pt x="72628" y="138140"/>
                </a:lnTo>
                <a:lnTo>
                  <a:pt x="103222" y="103222"/>
                </a:lnTo>
                <a:lnTo>
                  <a:pt x="138140" y="72627"/>
                </a:lnTo>
                <a:lnTo>
                  <a:pt x="176434" y="47086"/>
                </a:lnTo>
                <a:lnTo>
                  <a:pt x="217557" y="26826"/>
                </a:lnTo>
                <a:lnTo>
                  <a:pt x="260962" y="12074"/>
                </a:lnTo>
                <a:lnTo>
                  <a:pt x="306100" y="3056"/>
                </a:lnTo>
                <a:lnTo>
                  <a:pt x="352425" y="0"/>
                </a:lnTo>
                <a:lnTo>
                  <a:pt x="3066585" y="0"/>
                </a:lnTo>
                <a:lnTo>
                  <a:pt x="3112909" y="3056"/>
                </a:lnTo>
                <a:lnTo>
                  <a:pt x="3158048" y="12074"/>
                </a:lnTo>
                <a:lnTo>
                  <a:pt x="3201452" y="26826"/>
                </a:lnTo>
                <a:lnTo>
                  <a:pt x="3242576" y="47086"/>
                </a:lnTo>
                <a:lnTo>
                  <a:pt x="3280870" y="72627"/>
                </a:lnTo>
                <a:lnTo>
                  <a:pt x="3315787" y="103222"/>
                </a:lnTo>
                <a:lnTo>
                  <a:pt x="3346382" y="138140"/>
                </a:lnTo>
                <a:lnTo>
                  <a:pt x="3371923" y="176434"/>
                </a:lnTo>
                <a:lnTo>
                  <a:pt x="3392184" y="217557"/>
                </a:lnTo>
                <a:lnTo>
                  <a:pt x="3406936" y="260962"/>
                </a:lnTo>
                <a:lnTo>
                  <a:pt x="3415014" y="301393"/>
                </a:lnTo>
                <a:lnTo>
                  <a:pt x="3415014" y="2465199"/>
                </a:lnTo>
                <a:lnTo>
                  <a:pt x="3406936" y="2505631"/>
                </a:lnTo>
                <a:lnTo>
                  <a:pt x="3392184" y="2549035"/>
                </a:lnTo>
                <a:lnTo>
                  <a:pt x="3371923" y="2590159"/>
                </a:lnTo>
                <a:lnTo>
                  <a:pt x="3346382" y="2628453"/>
                </a:lnTo>
                <a:lnTo>
                  <a:pt x="3315787" y="2663370"/>
                </a:lnTo>
                <a:lnTo>
                  <a:pt x="3280870" y="2693965"/>
                </a:lnTo>
                <a:lnTo>
                  <a:pt x="3242576" y="2719506"/>
                </a:lnTo>
                <a:lnTo>
                  <a:pt x="3201452" y="2739766"/>
                </a:lnTo>
                <a:lnTo>
                  <a:pt x="3158048" y="2754519"/>
                </a:lnTo>
                <a:lnTo>
                  <a:pt x="3112909" y="2763537"/>
                </a:lnTo>
                <a:lnTo>
                  <a:pt x="3066585" y="2766593"/>
                </a:lnTo>
                <a:close/>
              </a:path>
            </a:pathLst>
          </a:custGeom>
          <a:solidFill>
            <a:srgbClr val="212121"/>
          </a:solidFill>
        </p:spPr>
        <p:txBody>
          <a:bodyPr wrap="square" lIns="0" tIns="0" rIns="0" bIns="0" rtlCol="0"/>
          <a:lstStyle/>
          <a:p>
            <a:endParaRPr dirty="0"/>
          </a:p>
        </p:txBody>
      </p:sp>
      <p:sp>
        <p:nvSpPr>
          <p:cNvPr id="13" name="object 13"/>
          <p:cNvSpPr txBox="1"/>
          <p:nvPr/>
        </p:nvSpPr>
        <p:spPr>
          <a:xfrm>
            <a:off x="9734829" y="6598045"/>
            <a:ext cx="3184525" cy="1740733"/>
          </a:xfrm>
          <a:prstGeom prst="rect">
            <a:avLst/>
          </a:prstGeom>
        </p:spPr>
        <p:txBody>
          <a:bodyPr vert="horz" wrap="square" lIns="0" tIns="12065" rIns="0" bIns="0" rtlCol="0">
            <a:spAutoFit/>
          </a:bodyPr>
          <a:lstStyle/>
          <a:p>
            <a:pPr marL="248285" marR="60960" indent="-180340">
              <a:lnSpc>
                <a:spcPct val="116199"/>
              </a:lnSpc>
              <a:spcBef>
                <a:spcPts val="95"/>
              </a:spcBef>
            </a:pPr>
            <a:r>
              <a:rPr sz="1950" spc="-25" dirty="0">
                <a:solidFill>
                  <a:srgbClr val="FFFFFF"/>
                </a:solidFill>
                <a:latin typeface="Lucida Sans Unicode"/>
                <a:cs typeface="Lucida Sans Unicode"/>
              </a:rPr>
              <a:t>3.</a:t>
            </a:r>
            <a:r>
              <a:rPr lang="en-US" sz="1950" spc="-130" dirty="0">
                <a:solidFill>
                  <a:srgbClr val="FFFFFF"/>
                </a:solidFill>
                <a:latin typeface="Lucida Sans Unicode"/>
                <a:cs typeface="Lucida Sans Unicode"/>
              </a:rPr>
              <a:t> </a:t>
            </a:r>
            <a:r>
              <a:rPr lang="en-US" sz="1950" spc="-65" dirty="0">
                <a:solidFill>
                  <a:srgbClr val="FFFFFF"/>
                </a:solidFill>
                <a:latin typeface="Lucida Sans Unicode"/>
                <a:cs typeface="Lucida Sans Unicode"/>
              </a:rPr>
              <a:t>To design and implement a machine learning model capable of predicting version incompatibilities.</a:t>
            </a:r>
            <a:endParaRPr sz="1950" dirty="0">
              <a:latin typeface="Lucida Sans Unicode"/>
              <a:cs typeface="Lucida Sans Unicode"/>
            </a:endParaRPr>
          </a:p>
        </p:txBody>
      </p:sp>
      <p:sp>
        <p:nvSpPr>
          <p:cNvPr id="14" name="object 14"/>
          <p:cNvSpPr/>
          <p:nvPr/>
        </p:nvSpPr>
        <p:spPr>
          <a:xfrm>
            <a:off x="13840288" y="6294633"/>
            <a:ext cx="3415029" cy="2766695"/>
          </a:xfrm>
          <a:custGeom>
            <a:avLst/>
            <a:gdLst/>
            <a:ahLst/>
            <a:cxnLst/>
            <a:rect l="l" t="t" r="r" b="b"/>
            <a:pathLst>
              <a:path w="3415030" h="2766695">
                <a:moveTo>
                  <a:pt x="3066586" y="2766593"/>
                </a:moveTo>
                <a:lnTo>
                  <a:pt x="352425" y="2766593"/>
                </a:lnTo>
                <a:lnTo>
                  <a:pt x="306101" y="2763537"/>
                </a:lnTo>
                <a:lnTo>
                  <a:pt x="260962" y="2754519"/>
                </a:lnTo>
                <a:lnTo>
                  <a:pt x="217558" y="2739766"/>
                </a:lnTo>
                <a:lnTo>
                  <a:pt x="176434" y="2719506"/>
                </a:lnTo>
                <a:lnTo>
                  <a:pt x="138140" y="2693965"/>
                </a:lnTo>
                <a:lnTo>
                  <a:pt x="103223" y="2663370"/>
                </a:lnTo>
                <a:lnTo>
                  <a:pt x="72627" y="2628453"/>
                </a:lnTo>
                <a:lnTo>
                  <a:pt x="47086" y="2590159"/>
                </a:lnTo>
                <a:lnTo>
                  <a:pt x="26826" y="2549035"/>
                </a:lnTo>
                <a:lnTo>
                  <a:pt x="12074" y="2505631"/>
                </a:lnTo>
                <a:lnTo>
                  <a:pt x="3056" y="2460492"/>
                </a:lnTo>
                <a:lnTo>
                  <a:pt x="0" y="2414168"/>
                </a:lnTo>
                <a:lnTo>
                  <a:pt x="0" y="352425"/>
                </a:lnTo>
                <a:lnTo>
                  <a:pt x="3056" y="306100"/>
                </a:lnTo>
                <a:lnTo>
                  <a:pt x="12074" y="260962"/>
                </a:lnTo>
                <a:lnTo>
                  <a:pt x="26826" y="217557"/>
                </a:lnTo>
                <a:lnTo>
                  <a:pt x="47086" y="176434"/>
                </a:lnTo>
                <a:lnTo>
                  <a:pt x="72627" y="138140"/>
                </a:lnTo>
                <a:lnTo>
                  <a:pt x="103223" y="103222"/>
                </a:lnTo>
                <a:lnTo>
                  <a:pt x="138140" y="72627"/>
                </a:lnTo>
                <a:lnTo>
                  <a:pt x="176434" y="47086"/>
                </a:lnTo>
                <a:lnTo>
                  <a:pt x="217558" y="26826"/>
                </a:lnTo>
                <a:lnTo>
                  <a:pt x="260962" y="12074"/>
                </a:lnTo>
                <a:lnTo>
                  <a:pt x="306101" y="3056"/>
                </a:lnTo>
                <a:lnTo>
                  <a:pt x="352425" y="0"/>
                </a:lnTo>
                <a:lnTo>
                  <a:pt x="3066586" y="0"/>
                </a:lnTo>
                <a:lnTo>
                  <a:pt x="3112909" y="3056"/>
                </a:lnTo>
                <a:lnTo>
                  <a:pt x="3158048" y="12074"/>
                </a:lnTo>
                <a:lnTo>
                  <a:pt x="3201452" y="26826"/>
                </a:lnTo>
                <a:lnTo>
                  <a:pt x="3242576" y="47086"/>
                </a:lnTo>
                <a:lnTo>
                  <a:pt x="3280870" y="72627"/>
                </a:lnTo>
                <a:lnTo>
                  <a:pt x="3315788" y="103222"/>
                </a:lnTo>
                <a:lnTo>
                  <a:pt x="3346383" y="138140"/>
                </a:lnTo>
                <a:lnTo>
                  <a:pt x="3371924" y="176434"/>
                </a:lnTo>
                <a:lnTo>
                  <a:pt x="3392184" y="217557"/>
                </a:lnTo>
                <a:lnTo>
                  <a:pt x="3406936" y="260962"/>
                </a:lnTo>
                <a:lnTo>
                  <a:pt x="3415014" y="301392"/>
                </a:lnTo>
                <a:lnTo>
                  <a:pt x="3415014" y="2465200"/>
                </a:lnTo>
                <a:lnTo>
                  <a:pt x="3406936" y="2505631"/>
                </a:lnTo>
                <a:lnTo>
                  <a:pt x="3392184" y="2549035"/>
                </a:lnTo>
                <a:lnTo>
                  <a:pt x="3371924" y="2590159"/>
                </a:lnTo>
                <a:lnTo>
                  <a:pt x="3346383" y="2628453"/>
                </a:lnTo>
                <a:lnTo>
                  <a:pt x="3315788" y="2663370"/>
                </a:lnTo>
                <a:lnTo>
                  <a:pt x="3280870" y="2693965"/>
                </a:lnTo>
                <a:lnTo>
                  <a:pt x="3242576" y="2719506"/>
                </a:lnTo>
                <a:lnTo>
                  <a:pt x="3201452" y="2739766"/>
                </a:lnTo>
                <a:lnTo>
                  <a:pt x="3158048" y="2754519"/>
                </a:lnTo>
                <a:lnTo>
                  <a:pt x="3112909" y="2763537"/>
                </a:lnTo>
                <a:lnTo>
                  <a:pt x="3066586" y="2766593"/>
                </a:lnTo>
                <a:close/>
              </a:path>
            </a:pathLst>
          </a:custGeom>
          <a:solidFill>
            <a:srgbClr val="212121"/>
          </a:solidFill>
        </p:spPr>
        <p:txBody>
          <a:bodyPr wrap="square" lIns="0" tIns="0" rIns="0" bIns="0" rtlCol="0"/>
          <a:lstStyle/>
          <a:p>
            <a:endParaRPr/>
          </a:p>
        </p:txBody>
      </p:sp>
      <p:sp>
        <p:nvSpPr>
          <p:cNvPr id="15" name="object 15"/>
          <p:cNvSpPr txBox="1"/>
          <p:nvPr/>
        </p:nvSpPr>
        <p:spPr>
          <a:xfrm>
            <a:off x="14010529" y="6598045"/>
            <a:ext cx="3078480" cy="2088842"/>
          </a:xfrm>
          <a:prstGeom prst="rect">
            <a:avLst/>
          </a:prstGeom>
        </p:spPr>
        <p:txBody>
          <a:bodyPr vert="horz" wrap="square" lIns="0" tIns="12065" rIns="0" bIns="0" rtlCol="0">
            <a:spAutoFit/>
          </a:bodyPr>
          <a:lstStyle/>
          <a:p>
            <a:pPr marL="304800" marR="296545" indent="176530">
              <a:lnSpc>
                <a:spcPct val="116199"/>
              </a:lnSpc>
              <a:spcBef>
                <a:spcPts val="95"/>
              </a:spcBef>
            </a:pPr>
            <a:r>
              <a:rPr sz="1950" dirty="0">
                <a:solidFill>
                  <a:srgbClr val="FFFFFF"/>
                </a:solidFill>
                <a:latin typeface="Lucida Sans Unicode"/>
                <a:cs typeface="Lucida Sans Unicode"/>
              </a:rPr>
              <a:t>4.</a:t>
            </a:r>
            <a:r>
              <a:rPr sz="1950" spc="-135" dirty="0">
                <a:solidFill>
                  <a:srgbClr val="FFFFFF"/>
                </a:solidFill>
                <a:latin typeface="Lucida Sans Unicode"/>
                <a:cs typeface="Lucida Sans Unicode"/>
              </a:rPr>
              <a:t> </a:t>
            </a:r>
            <a:r>
              <a:rPr lang="en-US" sz="1950" spc="-35" dirty="0">
                <a:solidFill>
                  <a:srgbClr val="FFFFFF"/>
                </a:solidFill>
                <a:latin typeface="Lucida Sans Unicode"/>
                <a:cs typeface="Lucida Sans Unicode"/>
              </a:rPr>
              <a:t>To evaluate the effectiveness of the proposed system using standard performance metrics.</a:t>
            </a:r>
            <a:endParaRPr sz="1950" dirty="0">
              <a:latin typeface="Lucida Sans Unicode"/>
              <a:cs typeface="Lucida Sans Unicode"/>
            </a:endParaRPr>
          </a:p>
        </p:txBody>
      </p:sp>
      <p:sp>
        <p:nvSpPr>
          <p:cNvPr id="16" name="object 16"/>
          <p:cNvSpPr/>
          <p:nvPr/>
        </p:nvSpPr>
        <p:spPr>
          <a:xfrm>
            <a:off x="8911182" y="7429348"/>
            <a:ext cx="614045" cy="497840"/>
          </a:xfrm>
          <a:custGeom>
            <a:avLst/>
            <a:gdLst/>
            <a:ahLst/>
            <a:cxnLst/>
            <a:rect l="l" t="t" r="r" b="b"/>
            <a:pathLst>
              <a:path w="614045" h="497840">
                <a:moveTo>
                  <a:pt x="371787" y="497249"/>
                </a:moveTo>
                <a:lnTo>
                  <a:pt x="371787" y="375887"/>
                </a:lnTo>
                <a:lnTo>
                  <a:pt x="0" y="375887"/>
                </a:lnTo>
                <a:lnTo>
                  <a:pt x="0" y="121362"/>
                </a:lnTo>
                <a:lnTo>
                  <a:pt x="371787" y="121362"/>
                </a:lnTo>
                <a:lnTo>
                  <a:pt x="371787" y="0"/>
                </a:lnTo>
                <a:lnTo>
                  <a:pt x="613792" y="247888"/>
                </a:lnTo>
                <a:lnTo>
                  <a:pt x="613792" y="249361"/>
                </a:lnTo>
                <a:lnTo>
                  <a:pt x="371787" y="497249"/>
                </a:lnTo>
                <a:close/>
              </a:path>
            </a:pathLst>
          </a:custGeom>
          <a:solidFill>
            <a:srgbClr val="212121"/>
          </a:solidFill>
        </p:spPr>
        <p:txBody>
          <a:bodyPr wrap="square" lIns="0" tIns="0" rIns="0" bIns="0" rtlCol="0"/>
          <a:lstStyle/>
          <a:p>
            <a:endParaRPr/>
          </a:p>
        </p:txBody>
      </p:sp>
      <p:sp>
        <p:nvSpPr>
          <p:cNvPr id="17" name="object 17"/>
          <p:cNvSpPr/>
          <p:nvPr/>
        </p:nvSpPr>
        <p:spPr>
          <a:xfrm>
            <a:off x="13133864" y="7429348"/>
            <a:ext cx="614045" cy="497840"/>
          </a:xfrm>
          <a:custGeom>
            <a:avLst/>
            <a:gdLst/>
            <a:ahLst/>
            <a:cxnLst/>
            <a:rect l="l" t="t" r="r" b="b"/>
            <a:pathLst>
              <a:path w="614044" h="497840">
                <a:moveTo>
                  <a:pt x="371786" y="497249"/>
                </a:moveTo>
                <a:lnTo>
                  <a:pt x="371786" y="375887"/>
                </a:lnTo>
                <a:lnTo>
                  <a:pt x="0" y="375887"/>
                </a:lnTo>
                <a:lnTo>
                  <a:pt x="0" y="121362"/>
                </a:lnTo>
                <a:lnTo>
                  <a:pt x="371786" y="121362"/>
                </a:lnTo>
                <a:lnTo>
                  <a:pt x="371786" y="0"/>
                </a:lnTo>
                <a:lnTo>
                  <a:pt x="613792" y="247888"/>
                </a:lnTo>
                <a:lnTo>
                  <a:pt x="613792" y="249361"/>
                </a:lnTo>
                <a:lnTo>
                  <a:pt x="371786" y="497249"/>
                </a:lnTo>
                <a:close/>
              </a:path>
            </a:pathLst>
          </a:custGeom>
          <a:solidFill>
            <a:srgbClr val="212121"/>
          </a:solidFill>
        </p:spPr>
        <p:txBody>
          <a:bodyPr wrap="square" lIns="0" tIns="0" rIns="0" bIns="0" rtlCol="0"/>
          <a:lstStyle/>
          <a:p>
            <a:endParaRPr/>
          </a:p>
        </p:txBody>
      </p:sp>
      <p:sp>
        <p:nvSpPr>
          <p:cNvPr id="18" name="object 18"/>
          <p:cNvSpPr/>
          <p:nvPr/>
        </p:nvSpPr>
        <p:spPr>
          <a:xfrm>
            <a:off x="4685831" y="7429348"/>
            <a:ext cx="614045" cy="497840"/>
          </a:xfrm>
          <a:custGeom>
            <a:avLst/>
            <a:gdLst/>
            <a:ahLst/>
            <a:cxnLst/>
            <a:rect l="l" t="t" r="r" b="b"/>
            <a:pathLst>
              <a:path w="614045" h="497840">
                <a:moveTo>
                  <a:pt x="371786" y="497249"/>
                </a:moveTo>
                <a:lnTo>
                  <a:pt x="371786" y="375887"/>
                </a:lnTo>
                <a:lnTo>
                  <a:pt x="0" y="375887"/>
                </a:lnTo>
                <a:lnTo>
                  <a:pt x="0" y="121362"/>
                </a:lnTo>
                <a:lnTo>
                  <a:pt x="371786" y="121362"/>
                </a:lnTo>
                <a:lnTo>
                  <a:pt x="371786" y="0"/>
                </a:lnTo>
                <a:lnTo>
                  <a:pt x="613792" y="247889"/>
                </a:lnTo>
                <a:lnTo>
                  <a:pt x="613792" y="249360"/>
                </a:lnTo>
                <a:lnTo>
                  <a:pt x="371786" y="497249"/>
                </a:lnTo>
                <a:close/>
              </a:path>
            </a:pathLst>
          </a:custGeom>
          <a:solidFill>
            <a:srgbClr val="212121"/>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228539"/>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4"/>
                </a:lnTo>
                <a:lnTo>
                  <a:pt x="12325" y="99958"/>
                </a:lnTo>
                <a:lnTo>
                  <a:pt x="47426" y="47426"/>
                </a:lnTo>
                <a:lnTo>
                  <a:pt x="99959" y="12325"/>
                </a:lnTo>
                <a:lnTo>
                  <a:pt x="161925" y="0"/>
                </a:lnTo>
                <a:lnTo>
                  <a:pt x="1629951" y="0"/>
                </a:lnTo>
                <a:lnTo>
                  <a:pt x="1691917" y="12325"/>
                </a:lnTo>
                <a:lnTo>
                  <a:pt x="1744449" y="47426"/>
                </a:lnTo>
                <a:lnTo>
                  <a:pt x="1779550" y="99958"/>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sp>
        <p:nvSpPr>
          <p:cNvPr id="3" name="object 3"/>
          <p:cNvSpPr txBox="1">
            <a:spLocks noGrp="1"/>
          </p:cNvSpPr>
          <p:nvPr>
            <p:ph type="title"/>
          </p:nvPr>
        </p:nvSpPr>
        <p:spPr>
          <a:xfrm>
            <a:off x="1438225" y="250817"/>
            <a:ext cx="8531225" cy="1185545"/>
          </a:xfrm>
          <a:prstGeom prst="rect">
            <a:avLst/>
          </a:prstGeom>
        </p:spPr>
        <p:txBody>
          <a:bodyPr vert="horz" wrap="square" lIns="0" tIns="13970" rIns="0" bIns="0" rtlCol="0">
            <a:spAutoFit/>
          </a:bodyPr>
          <a:lstStyle/>
          <a:p>
            <a:pPr marL="12700">
              <a:lnSpc>
                <a:spcPct val="100000"/>
              </a:lnSpc>
              <a:spcBef>
                <a:spcPts val="110"/>
              </a:spcBef>
              <a:tabLst>
                <a:tab pos="1658620" algn="l"/>
              </a:tabLst>
            </a:pPr>
            <a:r>
              <a:rPr sz="11325" spc="-37" baseline="2943" dirty="0">
                <a:solidFill>
                  <a:srgbClr val="FFFFFF"/>
                </a:solidFill>
              </a:rPr>
              <a:t>0</a:t>
            </a:r>
            <a:r>
              <a:rPr lang="en-US" sz="11325" spc="-37" baseline="2943" dirty="0">
                <a:solidFill>
                  <a:srgbClr val="FFFFFF"/>
                </a:solidFill>
              </a:rPr>
              <a:t>4</a:t>
            </a:r>
            <a:r>
              <a:rPr sz="11325" baseline="2943" dirty="0">
                <a:solidFill>
                  <a:srgbClr val="FFFFFF"/>
                </a:solidFill>
              </a:rPr>
              <a:t>	</a:t>
            </a:r>
            <a:r>
              <a:rPr sz="7600" spc="-985" dirty="0"/>
              <a:t>LITERATURE</a:t>
            </a:r>
            <a:r>
              <a:rPr sz="7600" spc="-465" dirty="0"/>
              <a:t> </a:t>
            </a:r>
            <a:r>
              <a:rPr sz="7600" spc="-880" dirty="0"/>
              <a:t>REVIEW</a:t>
            </a:r>
            <a:endParaRPr sz="7600" dirty="0"/>
          </a:p>
        </p:txBody>
      </p:sp>
      <p:sp>
        <p:nvSpPr>
          <p:cNvPr id="5" name="TextBox 4">
            <a:extLst>
              <a:ext uri="{FF2B5EF4-FFF2-40B4-BE49-F238E27FC236}">
                <a16:creationId xmlns:a16="http://schemas.microsoft.com/office/drawing/2014/main" id="{C6EA7ED0-BDA6-B511-B1E2-0AE9956A6CB4}"/>
              </a:ext>
            </a:extLst>
          </p:cNvPr>
          <p:cNvSpPr txBox="1"/>
          <p:nvPr/>
        </p:nvSpPr>
        <p:spPr>
          <a:xfrm>
            <a:off x="1028699" y="2171700"/>
            <a:ext cx="15049501" cy="5078313"/>
          </a:xfrm>
          <a:prstGeom prst="rect">
            <a:avLst/>
          </a:prstGeom>
          <a:noFill/>
        </p:spPr>
        <p:txBody>
          <a:bodyPr wrap="square" rtlCol="0">
            <a:spAutoFit/>
          </a:bodyPr>
          <a:lstStyle/>
          <a:p>
            <a:r>
              <a:rPr lang="en-US" sz="3600" dirty="0">
                <a:latin typeface="Lucida Sans" panose="020B0602030504020204" pitchFamily="34" charset="0"/>
              </a:rPr>
              <a:t>This section reviews existing studies on dependency management, conflict resolution, and the application of machine learning in software engineering. Prior research has explored static constraint solvers, semantic versioning analysis, and graph-based dependency modeling. However, most existing approaches do not leverage deep learning models to learn compatibility patterns from large-scale dependency graphs. The identified gap is the lack of intelligent, learning-based systems that can proactively predict dependency conflicts rather than reactively resolve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228539"/>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4"/>
                </a:lnTo>
                <a:lnTo>
                  <a:pt x="12325" y="99958"/>
                </a:lnTo>
                <a:lnTo>
                  <a:pt x="47426" y="47426"/>
                </a:lnTo>
                <a:lnTo>
                  <a:pt x="99959" y="12325"/>
                </a:lnTo>
                <a:lnTo>
                  <a:pt x="161925" y="0"/>
                </a:lnTo>
                <a:lnTo>
                  <a:pt x="1629951" y="0"/>
                </a:lnTo>
                <a:lnTo>
                  <a:pt x="1691917" y="12325"/>
                </a:lnTo>
                <a:lnTo>
                  <a:pt x="1744449" y="47426"/>
                </a:lnTo>
                <a:lnTo>
                  <a:pt x="1779550" y="99958"/>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sp>
        <p:nvSpPr>
          <p:cNvPr id="9" name="object 9"/>
          <p:cNvSpPr txBox="1">
            <a:spLocks noGrp="1"/>
          </p:cNvSpPr>
          <p:nvPr>
            <p:ph type="title"/>
          </p:nvPr>
        </p:nvSpPr>
        <p:spPr>
          <a:xfrm>
            <a:off x="1438225" y="250817"/>
            <a:ext cx="8531225" cy="1185545"/>
          </a:xfrm>
          <a:prstGeom prst="rect">
            <a:avLst/>
          </a:prstGeom>
        </p:spPr>
        <p:txBody>
          <a:bodyPr vert="horz" wrap="square" lIns="0" tIns="13970" rIns="0" bIns="0" rtlCol="0">
            <a:spAutoFit/>
          </a:bodyPr>
          <a:lstStyle/>
          <a:p>
            <a:pPr marL="12700">
              <a:lnSpc>
                <a:spcPct val="100000"/>
              </a:lnSpc>
              <a:spcBef>
                <a:spcPts val="110"/>
              </a:spcBef>
              <a:tabLst>
                <a:tab pos="1658620" algn="l"/>
              </a:tabLst>
            </a:pPr>
            <a:r>
              <a:rPr sz="11325" spc="-37" baseline="2943" dirty="0">
                <a:solidFill>
                  <a:srgbClr val="FFFFFF"/>
                </a:solidFill>
              </a:rPr>
              <a:t>05</a:t>
            </a:r>
            <a:r>
              <a:rPr sz="11325" baseline="2943" dirty="0">
                <a:solidFill>
                  <a:srgbClr val="FFFFFF"/>
                </a:solidFill>
              </a:rPr>
              <a:t>	</a:t>
            </a:r>
            <a:r>
              <a:rPr sz="7600" spc="-985" dirty="0"/>
              <a:t>LITERATURE</a:t>
            </a:r>
            <a:r>
              <a:rPr sz="7600" spc="-465" dirty="0"/>
              <a:t> </a:t>
            </a:r>
            <a:r>
              <a:rPr sz="7600" spc="-880" dirty="0"/>
              <a:t>REVIEW</a:t>
            </a:r>
            <a:endParaRPr sz="7600" dirty="0"/>
          </a:p>
        </p:txBody>
      </p:sp>
      <p:graphicFrame>
        <p:nvGraphicFramePr>
          <p:cNvPr id="11" name="Table 10">
            <a:extLst>
              <a:ext uri="{FF2B5EF4-FFF2-40B4-BE49-F238E27FC236}">
                <a16:creationId xmlns:a16="http://schemas.microsoft.com/office/drawing/2014/main" id="{2D54D48F-462E-F891-E264-53005786EC25}"/>
              </a:ext>
            </a:extLst>
          </p:cNvPr>
          <p:cNvGraphicFramePr>
            <a:graphicFrameLocks noGrp="1"/>
          </p:cNvGraphicFramePr>
          <p:nvPr>
            <p:extLst>
              <p:ext uri="{D42A27DB-BD31-4B8C-83A1-F6EECF244321}">
                <p14:modId xmlns:p14="http://schemas.microsoft.com/office/powerpoint/2010/main" val="2649654141"/>
              </p:ext>
            </p:extLst>
          </p:nvPr>
        </p:nvGraphicFramePr>
        <p:xfrm>
          <a:off x="228600" y="1458640"/>
          <a:ext cx="18059402" cy="6751133"/>
        </p:xfrm>
        <a:graphic>
          <a:graphicData uri="http://schemas.openxmlformats.org/drawingml/2006/table">
            <a:tbl>
              <a:tblPr firstRow="1" bandRow="1">
                <a:tableStyleId>{073A0DAA-6AF3-43AB-8588-CEC1D06C72B9}</a:tableStyleId>
              </a:tblPr>
              <a:tblGrid>
                <a:gridCol w="1260646">
                  <a:extLst>
                    <a:ext uri="{9D8B030D-6E8A-4147-A177-3AD203B41FA5}">
                      <a16:colId xmlns:a16="http://schemas.microsoft.com/office/drawing/2014/main" val="2805789072"/>
                    </a:ext>
                  </a:extLst>
                </a:gridCol>
                <a:gridCol w="3985261">
                  <a:extLst>
                    <a:ext uri="{9D8B030D-6E8A-4147-A177-3AD203B41FA5}">
                      <a16:colId xmlns:a16="http://schemas.microsoft.com/office/drawing/2014/main" val="4168035137"/>
                    </a:ext>
                  </a:extLst>
                </a:gridCol>
                <a:gridCol w="3659934">
                  <a:extLst>
                    <a:ext uri="{9D8B030D-6E8A-4147-A177-3AD203B41FA5}">
                      <a16:colId xmlns:a16="http://schemas.microsoft.com/office/drawing/2014/main" val="1895503269"/>
                    </a:ext>
                  </a:extLst>
                </a:gridCol>
                <a:gridCol w="3622996">
                  <a:extLst>
                    <a:ext uri="{9D8B030D-6E8A-4147-A177-3AD203B41FA5}">
                      <a16:colId xmlns:a16="http://schemas.microsoft.com/office/drawing/2014/main" val="1668819780"/>
                    </a:ext>
                  </a:extLst>
                </a:gridCol>
                <a:gridCol w="3371544">
                  <a:extLst>
                    <a:ext uri="{9D8B030D-6E8A-4147-A177-3AD203B41FA5}">
                      <a16:colId xmlns:a16="http://schemas.microsoft.com/office/drawing/2014/main" val="433785296"/>
                    </a:ext>
                  </a:extLst>
                </a:gridCol>
                <a:gridCol w="2159021">
                  <a:extLst>
                    <a:ext uri="{9D8B030D-6E8A-4147-A177-3AD203B41FA5}">
                      <a16:colId xmlns:a16="http://schemas.microsoft.com/office/drawing/2014/main" val="746014674"/>
                    </a:ext>
                  </a:extLst>
                </a:gridCol>
              </a:tblGrid>
              <a:tr h="713060">
                <a:tc>
                  <a:txBody>
                    <a:bodyPr/>
                    <a:lstStyle/>
                    <a:p>
                      <a:r>
                        <a:rPr lang="en-US" sz="1200" dirty="0">
                          <a:latin typeface="Lucida Sans" panose="020B0602030504020204" pitchFamily="34" charset="0"/>
                        </a:rPr>
                        <a:t> S/N</a:t>
                      </a:r>
                    </a:p>
                  </a:txBody>
                  <a:tcPr/>
                </a:tc>
                <a:tc>
                  <a:txBody>
                    <a:bodyPr/>
                    <a:lstStyle/>
                    <a:p>
                      <a:pPr algn="ctr"/>
                      <a:endParaRPr lang="en-US" sz="1200" dirty="0">
                        <a:latin typeface="Lucida Sans" panose="020B0602030504020204" pitchFamily="34" charset="0"/>
                      </a:endParaRPr>
                    </a:p>
                    <a:p>
                      <a:pPr algn="ctr"/>
                      <a:r>
                        <a:rPr lang="en-US" sz="1200" dirty="0">
                          <a:latin typeface="Lucida Sans" panose="020B0602030504020204" pitchFamily="34" charset="0"/>
                        </a:rPr>
                        <a:t>Author</a:t>
                      </a:r>
                    </a:p>
                  </a:txBody>
                  <a:tcPr/>
                </a:tc>
                <a:tc>
                  <a:txBody>
                    <a:bodyPr/>
                    <a:lstStyle/>
                    <a:p>
                      <a:endParaRPr lang="en-US" sz="1200" dirty="0">
                        <a:latin typeface="Lucida Sans" panose="020B0602030504020204" pitchFamily="34" charset="0"/>
                      </a:endParaRPr>
                    </a:p>
                    <a:p>
                      <a:r>
                        <a:rPr lang="en-US" sz="1200" dirty="0">
                          <a:latin typeface="Lucida Sans" panose="020B0602030504020204" pitchFamily="34" charset="0"/>
                        </a:rPr>
                        <a:t>Title</a:t>
                      </a:r>
                    </a:p>
                  </a:txBody>
                  <a:tcPr/>
                </a:tc>
                <a:tc>
                  <a:txBody>
                    <a:bodyPr/>
                    <a:lstStyle/>
                    <a:p>
                      <a:endParaRPr lang="en-US" sz="1200" dirty="0">
                        <a:latin typeface="Lucida Sans" panose="020B0602030504020204" pitchFamily="34" charset="0"/>
                      </a:endParaRPr>
                    </a:p>
                    <a:p>
                      <a:r>
                        <a:rPr lang="en-US" sz="1200" dirty="0">
                          <a:latin typeface="Lucida Sans" panose="020B0602030504020204" pitchFamily="34" charset="0"/>
                        </a:rPr>
                        <a:t>Methodology</a:t>
                      </a:r>
                    </a:p>
                  </a:txBody>
                  <a:tcPr/>
                </a:tc>
                <a:tc>
                  <a:txBody>
                    <a:bodyPr/>
                    <a:lstStyle/>
                    <a:p>
                      <a:endParaRPr lang="en-US" sz="1200" dirty="0">
                        <a:latin typeface="Lucida Sans" panose="020B0602030504020204" pitchFamily="34" charset="0"/>
                      </a:endParaRPr>
                    </a:p>
                    <a:p>
                      <a:r>
                        <a:rPr lang="en-US" sz="1200" dirty="0">
                          <a:latin typeface="Lucida Sans" panose="020B0602030504020204" pitchFamily="34" charset="0"/>
                        </a:rPr>
                        <a:t>Performance</a:t>
                      </a:r>
                    </a:p>
                  </a:txBody>
                  <a:tcPr/>
                </a:tc>
                <a:tc>
                  <a:txBody>
                    <a:bodyPr/>
                    <a:lstStyle/>
                    <a:p>
                      <a:endParaRPr lang="en-US" sz="1200" dirty="0">
                        <a:latin typeface="Lucida Sans" panose="020B0602030504020204" pitchFamily="34" charset="0"/>
                      </a:endParaRPr>
                    </a:p>
                    <a:p>
                      <a:r>
                        <a:rPr lang="en-US" sz="1200" dirty="0">
                          <a:latin typeface="Lucida Sans" panose="020B0602030504020204" pitchFamily="34" charset="0"/>
                        </a:rPr>
                        <a:t>Gap</a:t>
                      </a:r>
                    </a:p>
                  </a:txBody>
                  <a:tcPr/>
                </a:tc>
                <a:extLst>
                  <a:ext uri="{0D108BD9-81ED-4DB2-BD59-A6C34878D82A}">
                    <a16:rowId xmlns:a16="http://schemas.microsoft.com/office/drawing/2014/main" val="1450491642"/>
                  </a:ext>
                </a:extLst>
              </a:tr>
              <a:tr h="914400">
                <a:tc>
                  <a:txBody>
                    <a:bodyPr/>
                    <a:lstStyle/>
                    <a:p>
                      <a:r>
                        <a:rPr lang="en-US" sz="1200" dirty="0">
                          <a:latin typeface="Lucida Sans" panose="020B0602030504020204" pitchFamily="34" charset="0"/>
                        </a:rPr>
                        <a:t>1.</a:t>
                      </a:r>
                    </a:p>
                  </a:txBody>
                  <a:tcPr/>
                </a:tc>
                <a:tc>
                  <a:txBody>
                    <a:bodyPr/>
                    <a:lstStyle/>
                    <a:p>
                      <a:r>
                        <a:rPr lang="en-US" sz="1200" dirty="0">
                          <a:latin typeface="Lucida Sans" panose="020B0602030504020204" pitchFamily="34" charset="0"/>
                        </a:rPr>
                        <a:t>Abate et al. (2020)</a:t>
                      </a:r>
                    </a:p>
                  </a:txBody>
                  <a:tcPr/>
                </a:tc>
                <a:tc>
                  <a:txBody>
                    <a:bodyPr/>
                    <a:lstStyle/>
                    <a:p>
                      <a:pPr marL="0" marR="0">
                        <a:spcAft>
                          <a:spcPts val="600"/>
                        </a:spcAft>
                        <a:buNone/>
                      </a:pPr>
                      <a:r>
                        <a:rPr lang="en-US" sz="1200" b="0" dirty="0">
                          <a:effectLst/>
                          <a:latin typeface="Lucida Sans" panose="020B0602030504020204" pitchFamily="34" charset="0"/>
                          <a:ea typeface="SimSun" panose="02010600030101010101" pitchFamily="2" charset="-122"/>
                        </a:rPr>
                        <a:t>Dependency Solving Is Still Hard, but We Are Getting Better Results</a:t>
                      </a:r>
                    </a:p>
                  </a:txBody>
                  <a:tcPr marL="68580" marR="68580" marT="0" marB="0"/>
                </a:tc>
                <a:tc>
                  <a:txBody>
                    <a:bodyPr/>
                    <a:lstStyle/>
                    <a:p>
                      <a:r>
                        <a:rPr lang="en-US" sz="1200" dirty="0">
                          <a:latin typeface="Lucida Sans" panose="020B0602030504020204" pitchFamily="34" charset="0"/>
                        </a:rPr>
                        <a:t>SAT-based constraint-solving techniques or dependency resolution</a:t>
                      </a:r>
                    </a:p>
                  </a:txBody>
                  <a:tcPr/>
                </a:tc>
                <a:tc>
                  <a:txBody>
                    <a:bodyPr/>
                    <a:lstStyle/>
                    <a:p>
                      <a:r>
                        <a:rPr lang="en-US" sz="1200" dirty="0">
                          <a:latin typeface="Lucida Sans" panose="020B0602030504020204" pitchFamily="34" charset="0"/>
                        </a:rPr>
                        <a:t>Ensures correctness and completeness of dependency resolution</a:t>
                      </a:r>
                    </a:p>
                  </a:txBody>
                  <a:tcPr/>
                </a:tc>
                <a:tc>
                  <a:txBody>
                    <a:bodyPr/>
                    <a:lstStyle/>
                    <a:p>
                      <a:r>
                        <a:rPr lang="en-US" sz="1200" dirty="0">
                          <a:latin typeface="Lucida Sans" panose="020B0602030504020204" pitchFamily="34" charset="0"/>
                        </a:rPr>
                        <a:t>Does not incorporate learning or predictive intelligence for future conflicts</a:t>
                      </a:r>
                    </a:p>
                  </a:txBody>
                  <a:tcPr/>
                </a:tc>
                <a:extLst>
                  <a:ext uri="{0D108BD9-81ED-4DB2-BD59-A6C34878D82A}">
                    <a16:rowId xmlns:a16="http://schemas.microsoft.com/office/drawing/2014/main" val="1620908550"/>
                  </a:ext>
                </a:extLst>
              </a:tr>
              <a:tr h="914400">
                <a:tc>
                  <a:txBody>
                    <a:bodyPr/>
                    <a:lstStyle/>
                    <a:p>
                      <a:r>
                        <a:rPr lang="en-US" sz="1200" dirty="0">
                          <a:latin typeface="Lucida Sans" panose="020B0602030504020204" pitchFamily="34" charset="0"/>
                        </a:rPr>
                        <a:t>2.</a:t>
                      </a:r>
                    </a:p>
                  </a:txBody>
                  <a:tcPr/>
                </a:tc>
                <a:tc>
                  <a:txBody>
                    <a:bodyPr/>
                    <a:lstStyle/>
                    <a:p>
                      <a:r>
                        <a:rPr lang="en-US" sz="1200" dirty="0">
                          <a:latin typeface="Lucida Sans" panose="020B0602030504020204" pitchFamily="34" charset="0"/>
                        </a:rPr>
                        <a:t>Xu et al.</a:t>
                      </a:r>
                    </a:p>
                    <a:p>
                      <a:r>
                        <a:rPr lang="en-US" sz="1200" dirty="0">
                          <a:latin typeface="Lucida Sans" panose="020B0602030504020204" pitchFamily="34" charset="0"/>
                        </a:rPr>
                        <a:t>(2020)</a:t>
                      </a:r>
                    </a:p>
                  </a:txBody>
                  <a:tcPr/>
                </a:tc>
                <a:tc>
                  <a:txBody>
                    <a:bodyPr/>
                    <a:lstStyle/>
                    <a:p>
                      <a:r>
                        <a:rPr lang="en-US" sz="1200" dirty="0">
                          <a:latin typeface="Lucida Sans" panose="020B0602030504020204" pitchFamily="34" charset="0"/>
                        </a:rPr>
                        <a:t>Enhancing Software Analytics with Graph Neural Networks</a:t>
                      </a:r>
                    </a:p>
                  </a:txBody>
                  <a:tcPr/>
                </a:tc>
                <a:tc>
                  <a:txBody>
                    <a:bodyPr/>
                    <a:lstStyle/>
                    <a:p>
                      <a:r>
                        <a:rPr lang="en-US" sz="1200" dirty="0">
                          <a:latin typeface="Lucida Sans" panose="020B0602030504020204" pitchFamily="34" charset="0"/>
                        </a:rPr>
                        <a:t>Application of Graph Neural Networks to software dependency graphs</a:t>
                      </a:r>
                    </a:p>
                  </a:txBody>
                  <a:tcPr/>
                </a:tc>
                <a:tc>
                  <a:txBody>
                    <a:bodyPr/>
                    <a:lstStyle/>
                    <a:p>
                      <a:r>
                        <a:rPr lang="en-US" sz="1200" dirty="0">
                          <a:latin typeface="Lucida Sans" panose="020B0602030504020204" pitchFamily="34" charset="0"/>
                        </a:rPr>
                        <a:t>Achieved better performance than traditional machine learning models</a:t>
                      </a:r>
                    </a:p>
                  </a:txBody>
                  <a:tcPr/>
                </a:tc>
                <a:tc>
                  <a:txBody>
                    <a:bodyPr/>
                    <a:lstStyle/>
                    <a:p>
                      <a:r>
                        <a:rPr lang="en-US" sz="1200" dirty="0">
                          <a:latin typeface="Lucida Sans" panose="020B0602030504020204" pitchFamily="34" charset="0"/>
                        </a:rPr>
                        <a:t>Focused on general software analytics, not dependency version conflict prediction</a:t>
                      </a:r>
                    </a:p>
                  </a:txBody>
                  <a:tcPr/>
                </a:tc>
                <a:extLst>
                  <a:ext uri="{0D108BD9-81ED-4DB2-BD59-A6C34878D82A}">
                    <a16:rowId xmlns:a16="http://schemas.microsoft.com/office/drawing/2014/main" val="3533991951"/>
                  </a:ext>
                </a:extLst>
              </a:tr>
              <a:tr h="685800">
                <a:tc>
                  <a:txBody>
                    <a:bodyPr/>
                    <a:lstStyle/>
                    <a:p>
                      <a:r>
                        <a:rPr lang="en-US" sz="1200" dirty="0">
                          <a:latin typeface="Lucida Sans" panose="020B0602030504020204" pitchFamily="34" charset="0"/>
                        </a:rPr>
                        <a:t>3.</a:t>
                      </a:r>
                    </a:p>
                  </a:txBody>
                  <a:tcPr/>
                </a:tc>
                <a:tc>
                  <a:txBody>
                    <a:bodyPr/>
                    <a:lstStyle/>
                    <a:p>
                      <a:r>
                        <a:rPr lang="en-US" sz="1200" dirty="0">
                          <a:latin typeface="Lucida Sans" panose="020B0602030504020204" pitchFamily="34" charset="0"/>
                        </a:rPr>
                        <a:t>Kikas et al. (2023)</a:t>
                      </a:r>
                    </a:p>
                  </a:txBody>
                  <a:tcPr/>
                </a:tc>
                <a:tc>
                  <a:txBody>
                    <a:bodyPr/>
                    <a:lstStyle/>
                    <a:p>
                      <a:r>
                        <a:rPr lang="en-US" sz="1200" dirty="0">
                          <a:latin typeface="Lucida Sans" panose="020B0602030504020204" pitchFamily="34" charset="0"/>
                        </a:rPr>
                        <a:t>Evolution of Package Dependency Networks</a:t>
                      </a:r>
                    </a:p>
                  </a:txBody>
                  <a:tcPr/>
                </a:tc>
                <a:tc>
                  <a:txBody>
                    <a:bodyPr/>
                    <a:lstStyle/>
                    <a:p>
                      <a:r>
                        <a:rPr lang="en-US" sz="1200" dirty="0">
                          <a:latin typeface="Lucida Sans" panose="020B0602030504020204" pitchFamily="34" charset="0"/>
                        </a:rPr>
                        <a:t>Longitudinal analysis of dependency graph evolution</a:t>
                      </a:r>
                    </a:p>
                  </a:txBody>
                  <a:tcPr/>
                </a:tc>
                <a:tc>
                  <a:txBody>
                    <a:bodyPr/>
                    <a:lstStyle/>
                    <a:p>
                      <a:r>
                        <a:rPr lang="en-US" sz="1200" dirty="0">
                          <a:latin typeface="Lucida Sans" panose="020B0602030504020204" pitchFamily="34" charset="0"/>
                        </a:rPr>
                        <a:t>Showed increasing dependency complexity over time</a:t>
                      </a:r>
                    </a:p>
                  </a:txBody>
                  <a:tcPr/>
                </a:tc>
                <a:tc>
                  <a:txBody>
                    <a:bodyPr/>
                    <a:lstStyle/>
                    <a:p>
                      <a:r>
                        <a:rPr lang="en-US" sz="1200" dirty="0">
                          <a:latin typeface="Lucida Sans" panose="020B0602030504020204" pitchFamily="34" charset="0"/>
                        </a:rPr>
                        <a:t>No intelligent system for resolving dependency conflicts</a:t>
                      </a:r>
                    </a:p>
                  </a:txBody>
                  <a:tcPr/>
                </a:tc>
                <a:extLst>
                  <a:ext uri="{0D108BD9-81ED-4DB2-BD59-A6C34878D82A}">
                    <a16:rowId xmlns:a16="http://schemas.microsoft.com/office/drawing/2014/main" val="2152389706"/>
                  </a:ext>
                </a:extLst>
              </a:tr>
              <a:tr h="685800">
                <a:tc>
                  <a:txBody>
                    <a:bodyPr/>
                    <a:lstStyle/>
                    <a:p>
                      <a:r>
                        <a:rPr lang="en-US" sz="1200" dirty="0">
                          <a:latin typeface="Lucida Sans" panose="020B0602030504020204" pitchFamily="34" charset="0"/>
                        </a:rPr>
                        <a:t>4.</a:t>
                      </a:r>
                    </a:p>
                  </a:txBody>
                  <a:tcPr/>
                </a:tc>
                <a:tc>
                  <a:txBody>
                    <a:bodyPr/>
                    <a:lstStyle/>
                    <a:p>
                      <a:r>
                        <a:rPr lang="en-US" sz="1200" dirty="0">
                          <a:latin typeface="Lucida Sans" panose="020B0602030504020204" pitchFamily="34" charset="0"/>
                        </a:rPr>
                        <a:t>Zhou et al. (2024)</a:t>
                      </a:r>
                    </a:p>
                  </a:txBody>
                  <a:tcPr/>
                </a:tc>
                <a:tc>
                  <a:txBody>
                    <a:bodyPr/>
                    <a:lstStyle/>
                    <a:p>
                      <a:r>
                        <a:rPr lang="en-US" sz="1200" dirty="0">
                          <a:latin typeface="Lucida Sans" panose="020B0602030504020204" pitchFamily="34" charset="0"/>
                        </a:rPr>
                        <a:t>Predicting Software Build Failures Using Hybrid Deep Learning Models</a:t>
                      </a:r>
                    </a:p>
                  </a:txBody>
                  <a:tcPr/>
                </a:tc>
                <a:tc>
                  <a:txBody>
                    <a:bodyPr/>
                    <a:lstStyle/>
                    <a:p>
                      <a:r>
                        <a:rPr lang="en-US" sz="1200" dirty="0">
                          <a:latin typeface="Lucida Sans" panose="020B0602030504020204" pitchFamily="34" charset="0"/>
                        </a:rPr>
                        <a:t>Hybrid graph-based and sequence-based deep learning model</a:t>
                      </a:r>
                    </a:p>
                  </a:txBody>
                  <a:tcPr/>
                </a:tc>
                <a:tc>
                  <a:txBody>
                    <a:bodyPr/>
                    <a:lstStyle/>
                    <a:p>
                      <a:r>
                        <a:rPr lang="en-US" sz="1200" dirty="0">
                          <a:latin typeface="Lucida Sans" panose="020B0602030504020204" pitchFamily="34" charset="0"/>
                        </a:rPr>
                        <a:t>Improved prediction of software build failures</a:t>
                      </a:r>
                    </a:p>
                  </a:txBody>
                  <a:tcPr/>
                </a:tc>
                <a:tc>
                  <a:txBody>
                    <a:bodyPr/>
                    <a:lstStyle/>
                    <a:p>
                      <a:r>
                        <a:rPr lang="en-US" sz="1200" dirty="0">
                          <a:latin typeface="Lucida Sans" panose="020B0602030504020204" pitchFamily="34" charset="0"/>
                        </a:rPr>
                        <a:t>Focused on build failures broadly, not version conflict resolution</a:t>
                      </a:r>
                    </a:p>
                  </a:txBody>
                  <a:tcPr/>
                </a:tc>
                <a:extLst>
                  <a:ext uri="{0D108BD9-81ED-4DB2-BD59-A6C34878D82A}">
                    <a16:rowId xmlns:a16="http://schemas.microsoft.com/office/drawing/2014/main" val="3851227784"/>
                  </a:ext>
                </a:extLst>
              </a:tr>
              <a:tr h="1277127">
                <a:tc>
                  <a:txBody>
                    <a:bodyPr/>
                    <a:lstStyle/>
                    <a:p>
                      <a:r>
                        <a:rPr lang="en-US" sz="1200" dirty="0">
                          <a:latin typeface="Lucida Sans" panose="020B0602030504020204" pitchFamily="34" charset="0"/>
                        </a:rPr>
                        <a:t>4.</a:t>
                      </a:r>
                    </a:p>
                  </a:txBody>
                  <a:tcPr/>
                </a:tc>
                <a:tc>
                  <a:txBody>
                    <a:bodyPr/>
                    <a:lstStyle/>
                    <a:p>
                      <a:r>
                        <a:rPr lang="en-US" sz="1200" dirty="0">
                          <a:latin typeface="Lucida Sans" panose="020B0602030504020204" pitchFamily="34" charset="0"/>
                        </a:rPr>
                        <a:t>Wu et al. (2021)</a:t>
                      </a:r>
                    </a:p>
                  </a:txBody>
                  <a:tcPr/>
                </a:tc>
                <a:tc>
                  <a:txBody>
                    <a:bodyPr/>
                    <a:lstStyle/>
                    <a:p>
                      <a:r>
                        <a:rPr lang="en-US" sz="1200" dirty="0">
                          <a:latin typeface="Lucida Sans" panose="020B0602030504020204" pitchFamily="34" charset="0"/>
                        </a:rPr>
                        <a:t>A Comprehensive Survey on Graph Neural Networks</a:t>
                      </a:r>
                    </a:p>
                  </a:txBody>
                  <a:tcPr/>
                </a:tc>
                <a:tc>
                  <a:txBody>
                    <a:bodyPr/>
                    <a:lstStyle/>
                    <a:p>
                      <a:r>
                        <a:rPr lang="en-US" sz="1200" dirty="0">
                          <a:latin typeface="Lucida Sans" panose="020B0602030504020204" pitchFamily="34" charset="0"/>
                        </a:rPr>
                        <a:t>Survey and comparative analysis of GNN architectures</a:t>
                      </a:r>
                    </a:p>
                  </a:txBody>
                  <a:tcPr/>
                </a:tc>
                <a:tc>
                  <a:txBody>
                    <a:bodyPr/>
                    <a:lstStyle/>
                    <a:p>
                      <a:r>
                        <a:rPr lang="en-US" sz="1200" dirty="0">
                          <a:latin typeface="Lucida Sans" panose="020B0602030504020204" pitchFamily="34" charset="0"/>
                        </a:rPr>
                        <a:t>Demonstrated strong performance of GNNs on relational data</a:t>
                      </a:r>
                    </a:p>
                  </a:txBody>
                  <a:tcPr/>
                </a:tc>
                <a:tc>
                  <a:txBody>
                    <a:bodyPr/>
                    <a:lstStyle/>
                    <a:p>
                      <a:r>
                        <a:rPr lang="en-US" sz="1200" dirty="0">
                          <a:latin typeface="Lucida Sans" panose="020B0602030504020204" pitchFamily="34" charset="0"/>
                        </a:rPr>
                        <a:t>General-purpose survey; not tailored to dependency management problems</a:t>
                      </a:r>
                    </a:p>
                  </a:txBody>
                  <a:tcPr/>
                </a:tc>
                <a:extLst>
                  <a:ext uri="{0D108BD9-81ED-4DB2-BD59-A6C34878D82A}">
                    <a16:rowId xmlns:a16="http://schemas.microsoft.com/office/drawing/2014/main" val="4239503975"/>
                  </a:ext>
                </a:extLst>
              </a:tr>
              <a:tr h="780273">
                <a:tc>
                  <a:txBody>
                    <a:bodyPr/>
                    <a:lstStyle/>
                    <a:p>
                      <a:r>
                        <a:rPr lang="en-US" sz="1200" dirty="0">
                          <a:latin typeface="Lucida Sans" panose="020B0602030504020204" pitchFamily="34" charset="0"/>
                        </a:rPr>
                        <a:t>5.</a:t>
                      </a:r>
                    </a:p>
                  </a:txBody>
                  <a:tcPr/>
                </a:tc>
                <a:tc>
                  <a:txBody>
                    <a:bodyPr/>
                    <a:lstStyle/>
                    <a:p>
                      <a:r>
                        <a:rPr lang="en-US" sz="1200" dirty="0">
                          <a:latin typeface="Lucida Sans" panose="020B0602030504020204" pitchFamily="34" charset="0"/>
                        </a:rPr>
                        <a:t>Rosa et al. (2022)</a:t>
                      </a:r>
                    </a:p>
                  </a:txBody>
                  <a:tcPr/>
                </a:tc>
                <a:tc>
                  <a:txBody>
                    <a:bodyPr/>
                    <a:lstStyle/>
                    <a:p>
                      <a:r>
                        <a:rPr lang="en-US" sz="1200" dirty="0">
                          <a:latin typeface="Lucida Sans" panose="020B0602030504020204" pitchFamily="34" charset="0"/>
                        </a:rPr>
                        <a:t>An Empirical Study of Package Dependency Risks</a:t>
                      </a:r>
                    </a:p>
                  </a:txBody>
                  <a:tcPr/>
                </a:tc>
                <a:tc>
                  <a:txBody>
                    <a:bodyPr/>
                    <a:lstStyle/>
                    <a:p>
                      <a:r>
                        <a:rPr lang="en-US" sz="1200" dirty="0">
                          <a:latin typeface="Lucida Sans" panose="020B0602030504020204" pitchFamily="34" charset="0"/>
                        </a:rPr>
                        <a:t>Statistical analysis and graph mining of </a:t>
                      </a:r>
                    </a:p>
                  </a:txBody>
                  <a:tcPr/>
                </a:tc>
                <a:tc>
                  <a:txBody>
                    <a:bodyPr/>
                    <a:lstStyle/>
                    <a:p>
                      <a:r>
                        <a:rPr lang="en-US" sz="1200" dirty="0">
                          <a:latin typeface="Lucida Sans" panose="020B0602030504020204" pitchFamily="34" charset="0"/>
                        </a:rPr>
                        <a:t>Identified high-risk dependency patterns</a:t>
                      </a:r>
                    </a:p>
                  </a:txBody>
                  <a:tcPr/>
                </a:tc>
                <a:tc>
                  <a:txBody>
                    <a:bodyPr/>
                    <a:lstStyle/>
                    <a:p>
                      <a:r>
                        <a:rPr lang="en-US" sz="1200" dirty="0">
                          <a:latin typeface="Lucida Sans" panose="020B0602030504020204" pitchFamily="34" charset="0"/>
                        </a:rPr>
                        <a:t>Did not apply deep learning or predictive conflict resolution</a:t>
                      </a:r>
                    </a:p>
                  </a:txBody>
                  <a:tcPr/>
                </a:tc>
                <a:extLst>
                  <a:ext uri="{0D108BD9-81ED-4DB2-BD59-A6C34878D82A}">
                    <a16:rowId xmlns:a16="http://schemas.microsoft.com/office/drawing/2014/main" val="2914387861"/>
                  </a:ext>
                </a:extLst>
              </a:tr>
              <a:tr h="780273">
                <a:tc>
                  <a:txBody>
                    <a:bodyPr/>
                    <a:lstStyle/>
                    <a:p>
                      <a:r>
                        <a:rPr lang="en-US" sz="1200" dirty="0">
                          <a:latin typeface="Lucida Sans" panose="020B0602030504020204" pitchFamily="34" charset="0"/>
                        </a:rPr>
                        <a:t>6.</a:t>
                      </a:r>
                    </a:p>
                  </a:txBody>
                  <a:tcPr/>
                </a:tc>
                <a:tc>
                  <a:txBody>
                    <a:bodyPr/>
                    <a:lstStyle/>
                    <a:p>
                      <a:r>
                        <a:rPr lang="en-US" sz="1200" dirty="0">
                          <a:latin typeface="Lucida Sans" panose="020B0602030504020204" pitchFamily="34" charset="0"/>
                        </a:rPr>
                        <a:t>Li et al. (2022)</a:t>
                      </a:r>
                    </a:p>
                  </a:txBody>
                  <a:tcPr/>
                </a:tc>
                <a:tc>
                  <a:txBody>
                    <a:bodyPr/>
                    <a:lstStyle/>
                    <a:p>
                      <a:r>
                        <a:rPr lang="en-US" sz="1200" dirty="0">
                          <a:latin typeface="Lucida Sans" panose="020B0602030504020204" pitchFamily="34" charset="0"/>
                        </a:rPr>
                        <a:t>Vulnerability Detection with Graph Neural Networks</a:t>
                      </a:r>
                    </a:p>
                  </a:txBody>
                  <a:tcPr/>
                </a:tc>
                <a:tc>
                  <a:txBody>
                    <a:bodyPr/>
                    <a:lstStyle/>
                    <a:p>
                      <a:r>
                        <a:rPr lang="en-US" sz="1200" dirty="0">
                          <a:latin typeface="Lucida Sans" panose="020B0602030504020204" pitchFamily="34" charset="0"/>
                        </a:rPr>
                        <a:t>GNN-based modeling of software dependency graphs</a:t>
                      </a:r>
                    </a:p>
                  </a:txBody>
                  <a:tcPr/>
                </a:tc>
                <a:tc>
                  <a:txBody>
                    <a:bodyPr/>
                    <a:lstStyle/>
                    <a:p>
                      <a:r>
                        <a:rPr lang="en-US" sz="1200" dirty="0">
                          <a:latin typeface="Lucida Sans" panose="020B0602030504020204" pitchFamily="34" charset="0"/>
                        </a:rPr>
                        <a:t>Improved vulnerability detection accuracy</a:t>
                      </a:r>
                    </a:p>
                  </a:txBody>
                  <a:tcPr/>
                </a:tc>
                <a:tc>
                  <a:txBody>
                    <a:bodyPr/>
                    <a:lstStyle/>
                    <a:p>
                      <a:r>
                        <a:rPr lang="en-US" sz="1200" dirty="0">
                          <a:latin typeface="Lucida Sans" panose="020B0602030504020204" pitchFamily="34" charset="0"/>
                        </a:rPr>
                        <a:t>Focused on security vulnerabilities rather than version compatibility</a:t>
                      </a:r>
                    </a:p>
                  </a:txBody>
                  <a:tcPr/>
                </a:tc>
                <a:extLst>
                  <a:ext uri="{0D108BD9-81ED-4DB2-BD59-A6C34878D82A}">
                    <a16:rowId xmlns:a16="http://schemas.microsoft.com/office/drawing/2014/main" val="264110018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1028700"/>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sp>
        <p:nvSpPr>
          <p:cNvPr id="3" name="object 3"/>
          <p:cNvSpPr txBox="1"/>
          <p:nvPr/>
        </p:nvSpPr>
        <p:spPr>
          <a:xfrm>
            <a:off x="610819" y="2312193"/>
            <a:ext cx="11184255" cy="4642233"/>
          </a:xfrm>
          <a:prstGeom prst="rect">
            <a:avLst/>
          </a:prstGeom>
        </p:spPr>
        <p:txBody>
          <a:bodyPr vert="horz" wrap="square" lIns="0" tIns="11430" rIns="0" bIns="0" rtlCol="0">
            <a:spAutoFit/>
          </a:bodyPr>
          <a:lstStyle/>
          <a:p>
            <a:pPr marL="12700" marR="5080" algn="just">
              <a:lnSpc>
                <a:spcPct val="117300"/>
              </a:lnSpc>
              <a:spcBef>
                <a:spcPts val="90"/>
              </a:spcBef>
            </a:pPr>
            <a:r>
              <a:rPr lang="en-US" sz="3250" spc="-200" dirty="0">
                <a:latin typeface="Trebuchet MS"/>
                <a:cs typeface="Trebuchet MS"/>
              </a:rPr>
              <a:t>The study adopts an experimental research design. Dependency metadata will be collected from public repositories such as </a:t>
            </a:r>
            <a:r>
              <a:rPr lang="en-US" sz="3250" spc="-200" dirty="0" err="1">
                <a:latin typeface="Trebuchet MS"/>
                <a:cs typeface="Trebuchet MS"/>
              </a:rPr>
              <a:t>PyPI</a:t>
            </a:r>
            <a:r>
              <a:rPr lang="en-US" sz="3250" spc="-200" dirty="0">
                <a:latin typeface="Trebuchet MS"/>
                <a:cs typeface="Trebuchet MS"/>
              </a:rPr>
              <a:t> or </a:t>
            </a:r>
            <a:r>
              <a:rPr lang="en-US" sz="3250" spc="-200" dirty="0" err="1">
                <a:latin typeface="Trebuchet MS"/>
                <a:cs typeface="Trebuchet MS"/>
              </a:rPr>
              <a:t>npm</a:t>
            </a:r>
            <a:r>
              <a:rPr lang="en-US" sz="3250" spc="-200" dirty="0">
                <a:latin typeface="Trebuchet MS"/>
                <a:cs typeface="Trebuchet MS"/>
              </a:rPr>
              <a:t>. The data will be preprocessed to remove inconsistencies and represent dependencies as graphs. A machine learning model, potentially based on Graph Neural Networks, will be trained to predict version compatibility. The model will be evaluated using metrics such as accuracy, precision, recall, and F1-score. Python and relevant machine learning libraries will be used for implementation.</a:t>
            </a:r>
            <a:endParaRPr sz="3250" dirty="0">
              <a:latin typeface="Trebuchet MS"/>
              <a:cs typeface="Trebuchet MS"/>
            </a:endParaRPr>
          </a:p>
        </p:txBody>
      </p:sp>
      <p:pic>
        <p:nvPicPr>
          <p:cNvPr id="4" name="object 4"/>
          <p:cNvPicPr/>
          <p:nvPr/>
        </p:nvPicPr>
        <p:blipFill>
          <a:blip r:embed="rId2" cstate="print"/>
          <a:stretch>
            <a:fillRect/>
          </a:stretch>
        </p:blipFill>
        <p:spPr>
          <a:xfrm>
            <a:off x="12530479" y="1028700"/>
            <a:ext cx="4724399" cy="8229599"/>
          </a:xfrm>
          <a:prstGeom prst="rect">
            <a:avLst/>
          </a:prstGeom>
        </p:spPr>
      </p:pic>
      <p:sp>
        <p:nvSpPr>
          <p:cNvPr id="5" name="object 5"/>
          <p:cNvSpPr txBox="1">
            <a:spLocks noGrp="1"/>
          </p:cNvSpPr>
          <p:nvPr>
            <p:ph type="title"/>
          </p:nvPr>
        </p:nvSpPr>
        <p:spPr>
          <a:prstGeom prst="rect">
            <a:avLst/>
          </a:prstGeom>
        </p:spPr>
        <p:txBody>
          <a:bodyPr vert="horz" wrap="square" lIns="0" tIns="13970" rIns="0" bIns="0" rtlCol="0">
            <a:spAutoFit/>
          </a:bodyPr>
          <a:lstStyle/>
          <a:p>
            <a:pPr marL="12700">
              <a:lnSpc>
                <a:spcPct val="100000"/>
              </a:lnSpc>
              <a:spcBef>
                <a:spcPts val="110"/>
              </a:spcBef>
              <a:tabLst>
                <a:tab pos="1729105" algn="l"/>
              </a:tabLst>
            </a:pPr>
            <a:r>
              <a:rPr sz="11325" spc="-37" baseline="2943" dirty="0">
                <a:solidFill>
                  <a:srgbClr val="FFFFFF"/>
                </a:solidFill>
              </a:rPr>
              <a:t>06</a:t>
            </a:r>
            <a:r>
              <a:rPr sz="11325" baseline="2943" dirty="0">
                <a:solidFill>
                  <a:srgbClr val="FFFFFF"/>
                </a:solidFill>
              </a:rPr>
              <a:t>	</a:t>
            </a:r>
            <a:r>
              <a:rPr sz="7600" spc="-1095" dirty="0"/>
              <a:t>METHODOLOGY</a:t>
            </a:r>
            <a:endParaRPr sz="7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44827" y="8522756"/>
            <a:ext cx="8629650" cy="887094"/>
          </a:xfrm>
          <a:prstGeom prst="rect">
            <a:avLst/>
          </a:prstGeom>
        </p:spPr>
        <p:txBody>
          <a:bodyPr vert="horz" wrap="square" lIns="0" tIns="12700" rIns="0" bIns="0" rtlCol="0">
            <a:spAutoFit/>
          </a:bodyPr>
          <a:lstStyle/>
          <a:p>
            <a:pPr marL="12700">
              <a:lnSpc>
                <a:spcPct val="100000"/>
              </a:lnSpc>
              <a:spcBef>
                <a:spcPts val="100"/>
              </a:spcBef>
            </a:pPr>
            <a:r>
              <a:rPr sz="5650" spc="-425" dirty="0"/>
              <a:t>SYSTEM</a:t>
            </a:r>
            <a:r>
              <a:rPr sz="5650" spc="-375" dirty="0"/>
              <a:t> </a:t>
            </a:r>
            <a:r>
              <a:rPr sz="5650" spc="-755" dirty="0"/>
              <a:t>ARCHITECTURE</a:t>
            </a:r>
            <a:r>
              <a:rPr sz="5650" spc="-365" dirty="0"/>
              <a:t> </a:t>
            </a:r>
            <a:r>
              <a:rPr sz="5650" spc="-550" dirty="0"/>
              <a:t>DIAGRAM</a:t>
            </a:r>
            <a:endParaRPr sz="5650"/>
          </a:p>
        </p:txBody>
      </p:sp>
      <p:pic>
        <p:nvPicPr>
          <p:cNvPr id="5" name="Picture 4">
            <a:extLst>
              <a:ext uri="{FF2B5EF4-FFF2-40B4-BE49-F238E27FC236}">
                <a16:creationId xmlns:a16="http://schemas.microsoft.com/office/drawing/2014/main" id="{8AB25297-A15A-F713-FD05-301C02622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266700"/>
            <a:ext cx="14630400" cy="82560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5CD6EE-49B3-380C-CC92-6493D05572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38900" y="285750"/>
            <a:ext cx="5410200" cy="9715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15853" y="428563"/>
            <a:ext cx="2350135" cy="1173480"/>
          </a:xfrm>
          <a:custGeom>
            <a:avLst/>
            <a:gdLst/>
            <a:ahLst/>
            <a:cxnLst/>
            <a:rect l="l" t="t" r="r" b="b"/>
            <a:pathLst>
              <a:path w="2350135" h="1173480">
                <a:moveTo>
                  <a:pt x="2188184" y="1173474"/>
                </a:moveTo>
                <a:lnTo>
                  <a:pt x="161924" y="1173474"/>
                </a:lnTo>
                <a:lnTo>
                  <a:pt x="130187" y="1170334"/>
                </a:lnTo>
                <a:lnTo>
                  <a:pt x="72088" y="1146268"/>
                </a:lnTo>
                <a:lnTo>
                  <a:pt x="27205" y="1101385"/>
                </a:lnTo>
                <a:lnTo>
                  <a:pt x="3140" y="1043286"/>
                </a:lnTo>
                <a:lnTo>
                  <a:pt x="0" y="1011549"/>
                </a:lnTo>
                <a:lnTo>
                  <a:pt x="0" y="161924"/>
                </a:lnTo>
                <a:lnTo>
                  <a:pt x="12325" y="99958"/>
                </a:lnTo>
                <a:lnTo>
                  <a:pt x="47426" y="47426"/>
                </a:lnTo>
                <a:lnTo>
                  <a:pt x="99958" y="12325"/>
                </a:lnTo>
                <a:lnTo>
                  <a:pt x="161924" y="0"/>
                </a:lnTo>
                <a:lnTo>
                  <a:pt x="2188184" y="0"/>
                </a:lnTo>
                <a:lnTo>
                  <a:pt x="2250150" y="12325"/>
                </a:lnTo>
                <a:lnTo>
                  <a:pt x="2302683" y="47426"/>
                </a:lnTo>
                <a:lnTo>
                  <a:pt x="2337784" y="99958"/>
                </a:lnTo>
                <a:lnTo>
                  <a:pt x="2350109" y="161924"/>
                </a:lnTo>
                <a:lnTo>
                  <a:pt x="2350109" y="1011549"/>
                </a:lnTo>
                <a:lnTo>
                  <a:pt x="2337784" y="1073515"/>
                </a:lnTo>
                <a:lnTo>
                  <a:pt x="2302683" y="1126047"/>
                </a:lnTo>
                <a:lnTo>
                  <a:pt x="2250150" y="1161148"/>
                </a:lnTo>
                <a:lnTo>
                  <a:pt x="2188184" y="1173474"/>
                </a:lnTo>
                <a:close/>
              </a:path>
            </a:pathLst>
          </a:custGeom>
          <a:solidFill>
            <a:srgbClr val="212121"/>
          </a:solidFill>
        </p:spPr>
        <p:txBody>
          <a:bodyPr wrap="square" lIns="0" tIns="0" rIns="0" bIns="0" rtlCol="0"/>
          <a:lstStyle/>
          <a:p>
            <a:endParaRPr/>
          </a:p>
        </p:txBody>
      </p:sp>
      <p:sp>
        <p:nvSpPr>
          <p:cNvPr id="9" name="object 9"/>
          <p:cNvSpPr txBox="1"/>
          <p:nvPr/>
        </p:nvSpPr>
        <p:spPr>
          <a:xfrm>
            <a:off x="1115111" y="408992"/>
            <a:ext cx="951865" cy="1150620"/>
          </a:xfrm>
          <a:prstGeom prst="rect">
            <a:avLst/>
          </a:prstGeom>
        </p:spPr>
        <p:txBody>
          <a:bodyPr vert="horz" wrap="square" lIns="0" tIns="16510" rIns="0" bIns="0" rtlCol="0">
            <a:spAutoFit/>
          </a:bodyPr>
          <a:lstStyle/>
          <a:p>
            <a:pPr marL="12700">
              <a:lnSpc>
                <a:spcPct val="100000"/>
              </a:lnSpc>
              <a:spcBef>
                <a:spcPts val="130"/>
              </a:spcBef>
            </a:pPr>
            <a:r>
              <a:rPr sz="7350" spc="-185" dirty="0">
                <a:solidFill>
                  <a:srgbClr val="FFFFFF"/>
                </a:solidFill>
                <a:latin typeface="Trebuchet MS"/>
                <a:cs typeface="Trebuchet MS"/>
              </a:rPr>
              <a:t>0</a:t>
            </a:r>
            <a:r>
              <a:rPr lang="en-US" sz="7350" spc="-185" dirty="0">
                <a:solidFill>
                  <a:srgbClr val="FFFFFF"/>
                </a:solidFill>
                <a:latin typeface="Trebuchet MS"/>
                <a:cs typeface="Trebuchet MS"/>
              </a:rPr>
              <a:t>7</a:t>
            </a:r>
            <a:endParaRPr sz="7350" dirty="0">
              <a:latin typeface="Trebuchet MS"/>
              <a:cs typeface="Trebuchet MS"/>
            </a:endParaRPr>
          </a:p>
        </p:txBody>
      </p:sp>
      <p:sp>
        <p:nvSpPr>
          <p:cNvPr id="10" name="object 10"/>
          <p:cNvSpPr txBox="1">
            <a:spLocks noGrp="1"/>
          </p:cNvSpPr>
          <p:nvPr>
            <p:ph type="title"/>
          </p:nvPr>
        </p:nvSpPr>
        <p:spPr>
          <a:xfrm>
            <a:off x="3015207" y="406183"/>
            <a:ext cx="14454505" cy="981075"/>
          </a:xfrm>
          <a:prstGeom prst="rect">
            <a:avLst/>
          </a:prstGeom>
        </p:spPr>
        <p:txBody>
          <a:bodyPr vert="horz" wrap="square" lIns="0" tIns="14604" rIns="0" bIns="0" rtlCol="0">
            <a:spAutoFit/>
          </a:bodyPr>
          <a:lstStyle/>
          <a:p>
            <a:pPr marL="12700">
              <a:lnSpc>
                <a:spcPct val="100000"/>
              </a:lnSpc>
              <a:spcBef>
                <a:spcPts val="114"/>
              </a:spcBef>
            </a:pPr>
            <a:r>
              <a:rPr lang="en-US" sz="6250" spc="-850" dirty="0"/>
              <a:t>EXPECTED RESULTS</a:t>
            </a:r>
            <a:endParaRPr sz="6250" dirty="0"/>
          </a:p>
        </p:txBody>
      </p:sp>
      <p:sp>
        <p:nvSpPr>
          <p:cNvPr id="11" name="TextBox 10">
            <a:extLst>
              <a:ext uri="{FF2B5EF4-FFF2-40B4-BE49-F238E27FC236}">
                <a16:creationId xmlns:a16="http://schemas.microsoft.com/office/drawing/2014/main" id="{4896209C-CAF4-B641-A8EA-410FA00E4BC4}"/>
              </a:ext>
            </a:extLst>
          </p:cNvPr>
          <p:cNvSpPr txBox="1"/>
          <p:nvPr/>
        </p:nvSpPr>
        <p:spPr>
          <a:xfrm>
            <a:off x="1676400" y="2324100"/>
            <a:ext cx="16078200" cy="4524315"/>
          </a:xfrm>
          <a:prstGeom prst="rect">
            <a:avLst/>
          </a:prstGeom>
          <a:noFill/>
        </p:spPr>
        <p:txBody>
          <a:bodyPr wrap="square" rtlCol="0">
            <a:spAutoFit/>
          </a:bodyPr>
          <a:lstStyle/>
          <a:p>
            <a:r>
              <a:rPr lang="en-US" sz="4800" dirty="0">
                <a:latin typeface="Lucida Sans" panose="020B0602030504020204" pitchFamily="34" charset="0"/>
              </a:rPr>
              <a:t>The expected outcome of this project is a system capable of accurately predicting dependency version conflicts. The proposed model is expected to outperform traditional resolution techniques by learning from historical data, reducing build failures, and improving dependency management efficiency.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28699" y="1028700"/>
            <a:ext cx="1791335" cy="1200785"/>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endParaRPr/>
          </a:p>
        </p:txBody>
      </p:sp>
      <p:pic>
        <p:nvPicPr>
          <p:cNvPr id="3" name="object 3"/>
          <p:cNvPicPr/>
          <p:nvPr/>
        </p:nvPicPr>
        <p:blipFill>
          <a:blip r:embed="rId2" cstate="print"/>
          <a:stretch>
            <a:fillRect/>
          </a:stretch>
        </p:blipFill>
        <p:spPr>
          <a:xfrm>
            <a:off x="12467139" y="1028700"/>
            <a:ext cx="5276849" cy="8229599"/>
          </a:xfrm>
          <a:prstGeom prst="rect">
            <a:avLst/>
          </a:prstGeom>
        </p:spPr>
      </p:pic>
      <p:sp>
        <p:nvSpPr>
          <p:cNvPr id="4" name="object 4"/>
          <p:cNvSpPr txBox="1">
            <a:spLocks noGrp="1"/>
          </p:cNvSpPr>
          <p:nvPr>
            <p:ph type="title"/>
          </p:nvPr>
        </p:nvSpPr>
        <p:spPr>
          <a:xfrm>
            <a:off x="1433313" y="1009908"/>
            <a:ext cx="6071235" cy="1185545"/>
          </a:xfrm>
          <a:prstGeom prst="rect">
            <a:avLst/>
          </a:prstGeom>
        </p:spPr>
        <p:txBody>
          <a:bodyPr vert="horz" wrap="square" lIns="0" tIns="13970" rIns="0" bIns="0" rtlCol="0">
            <a:spAutoFit/>
          </a:bodyPr>
          <a:lstStyle/>
          <a:p>
            <a:pPr marL="12700">
              <a:lnSpc>
                <a:spcPct val="100000"/>
              </a:lnSpc>
              <a:spcBef>
                <a:spcPts val="110"/>
              </a:spcBef>
              <a:tabLst>
                <a:tab pos="1732280" algn="l"/>
              </a:tabLst>
            </a:pPr>
            <a:r>
              <a:rPr sz="7550" spc="-25" dirty="0">
                <a:solidFill>
                  <a:srgbClr val="FFFFFF"/>
                </a:solidFill>
              </a:rPr>
              <a:t>0</a:t>
            </a:r>
            <a:r>
              <a:rPr lang="en-US" sz="7550" spc="-25" dirty="0">
                <a:solidFill>
                  <a:srgbClr val="FFFFFF"/>
                </a:solidFill>
              </a:rPr>
              <a:t>8</a:t>
            </a:r>
            <a:r>
              <a:rPr sz="7550" dirty="0">
                <a:solidFill>
                  <a:srgbClr val="FFFFFF"/>
                </a:solidFill>
              </a:rPr>
              <a:t>	</a:t>
            </a:r>
            <a:r>
              <a:rPr sz="7600" spc="-980" dirty="0"/>
              <a:t>CONCLUSION</a:t>
            </a:r>
            <a:endParaRPr sz="7600" dirty="0"/>
          </a:p>
        </p:txBody>
      </p:sp>
      <p:sp>
        <p:nvSpPr>
          <p:cNvPr id="5" name="object 5"/>
          <p:cNvSpPr txBox="1"/>
          <p:nvPr/>
        </p:nvSpPr>
        <p:spPr>
          <a:xfrm>
            <a:off x="1016000" y="2610161"/>
            <a:ext cx="9658350" cy="6469913"/>
          </a:xfrm>
          <a:prstGeom prst="rect">
            <a:avLst/>
          </a:prstGeom>
        </p:spPr>
        <p:txBody>
          <a:bodyPr vert="horz" wrap="square" lIns="0" tIns="11430" rIns="0" bIns="0" rtlCol="0">
            <a:spAutoFit/>
          </a:bodyPr>
          <a:lstStyle/>
          <a:p>
            <a:pPr marL="12700" marR="5080" algn="just">
              <a:lnSpc>
                <a:spcPct val="116900"/>
              </a:lnSpc>
              <a:spcBef>
                <a:spcPts val="90"/>
              </a:spcBef>
            </a:pPr>
            <a:r>
              <a:rPr lang="en-US" sz="3600" dirty="0">
                <a:latin typeface="Lucida Sans Unicode"/>
                <a:cs typeface="Lucida Sans Unicode"/>
              </a:rPr>
              <a:t>This project presents a machine learning approach to addressing dependency version conflicts in software development. By leveraging learned patterns from dependency data, the proposed system aims to improve reliability and scalability in dependency management. The study contributes to the growing application of machine learning techniques in software engineering.</a:t>
            </a:r>
            <a:endParaRPr sz="3600" dirty="0">
              <a:latin typeface="Lucida Sans Unicode"/>
              <a:cs typeface="Lucida Sans Unico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B68C16D5-1C2A-AE75-1233-4020001BEB27}"/>
              </a:ext>
            </a:extLst>
          </p:cNvPr>
          <p:cNvSpPr/>
          <p:nvPr/>
        </p:nvSpPr>
        <p:spPr>
          <a:xfrm>
            <a:off x="1028699" y="1028700"/>
            <a:ext cx="2171701" cy="1219200"/>
          </a:xfrm>
          <a:custGeom>
            <a:avLst/>
            <a:gdLst/>
            <a:ahLst/>
            <a:cxnLst/>
            <a:rect l="l" t="t" r="r" b="b"/>
            <a:pathLst>
              <a:path w="1791335" h="1200785">
                <a:moveTo>
                  <a:pt x="1629951" y="1200271"/>
                </a:moveTo>
                <a:lnTo>
                  <a:pt x="161925" y="1200271"/>
                </a:lnTo>
                <a:lnTo>
                  <a:pt x="130187" y="1197131"/>
                </a:lnTo>
                <a:lnTo>
                  <a:pt x="72088" y="1173066"/>
                </a:lnTo>
                <a:lnTo>
                  <a:pt x="27205" y="1128182"/>
                </a:lnTo>
                <a:lnTo>
                  <a:pt x="3140" y="1070084"/>
                </a:lnTo>
                <a:lnTo>
                  <a:pt x="0" y="1038346"/>
                </a:lnTo>
                <a:lnTo>
                  <a:pt x="0" y="161925"/>
                </a:lnTo>
                <a:lnTo>
                  <a:pt x="12325" y="99959"/>
                </a:lnTo>
                <a:lnTo>
                  <a:pt x="47426" y="47426"/>
                </a:lnTo>
                <a:lnTo>
                  <a:pt x="99959" y="12325"/>
                </a:lnTo>
                <a:lnTo>
                  <a:pt x="161925" y="0"/>
                </a:lnTo>
                <a:lnTo>
                  <a:pt x="1629951" y="0"/>
                </a:lnTo>
                <a:lnTo>
                  <a:pt x="1691917" y="12325"/>
                </a:lnTo>
                <a:lnTo>
                  <a:pt x="1744449" y="47426"/>
                </a:lnTo>
                <a:lnTo>
                  <a:pt x="1779550" y="99959"/>
                </a:lnTo>
                <a:lnTo>
                  <a:pt x="1791030" y="153372"/>
                </a:lnTo>
                <a:lnTo>
                  <a:pt x="1791030" y="1046899"/>
                </a:lnTo>
                <a:lnTo>
                  <a:pt x="1779550" y="1100312"/>
                </a:lnTo>
                <a:lnTo>
                  <a:pt x="1744449" y="1152844"/>
                </a:lnTo>
                <a:lnTo>
                  <a:pt x="1691917" y="1187945"/>
                </a:lnTo>
                <a:lnTo>
                  <a:pt x="1629951" y="1200271"/>
                </a:lnTo>
                <a:close/>
              </a:path>
            </a:pathLst>
          </a:custGeom>
          <a:solidFill>
            <a:srgbClr val="212121"/>
          </a:solidFill>
        </p:spPr>
        <p:txBody>
          <a:bodyPr wrap="square" lIns="0" tIns="0" rIns="0" bIns="0" rtlCol="0"/>
          <a:lstStyle/>
          <a:p>
            <a:pPr algn="ctr"/>
            <a:r>
              <a:rPr lang="en-US" sz="7550" spc="-25" dirty="0">
                <a:solidFill>
                  <a:srgbClr val="FFFFFF"/>
                </a:solidFill>
                <a:latin typeface="Trebuchet MS"/>
                <a:ea typeface="+mj-ea"/>
              </a:rPr>
              <a:t>09</a:t>
            </a:r>
            <a:endParaRPr dirty="0"/>
          </a:p>
        </p:txBody>
      </p:sp>
      <p:pic>
        <p:nvPicPr>
          <p:cNvPr id="11" name="Picture 10">
            <a:extLst>
              <a:ext uri="{FF2B5EF4-FFF2-40B4-BE49-F238E27FC236}">
                <a16:creationId xmlns:a16="http://schemas.microsoft.com/office/drawing/2014/main" id="{CAE0A72A-7F0C-6CF9-FE01-14515628931D}"/>
              </a:ext>
            </a:extLst>
          </p:cNvPr>
          <p:cNvPicPr>
            <a:picLocks noChangeAspect="1"/>
          </p:cNvPicPr>
          <p:nvPr/>
        </p:nvPicPr>
        <p:blipFill>
          <a:blip r:embed="rId2"/>
          <a:stretch>
            <a:fillRect/>
          </a:stretch>
        </p:blipFill>
        <p:spPr>
          <a:xfrm>
            <a:off x="3194222" y="806124"/>
            <a:ext cx="6931753" cy="1664352"/>
          </a:xfrm>
          <a:prstGeom prst="rect">
            <a:avLst/>
          </a:prstGeom>
        </p:spPr>
      </p:pic>
      <p:sp>
        <p:nvSpPr>
          <p:cNvPr id="13" name="TextBox 12">
            <a:extLst>
              <a:ext uri="{FF2B5EF4-FFF2-40B4-BE49-F238E27FC236}">
                <a16:creationId xmlns:a16="http://schemas.microsoft.com/office/drawing/2014/main" id="{22ACFBC8-BC44-488E-D784-3E2852278019}"/>
              </a:ext>
            </a:extLst>
          </p:cNvPr>
          <p:cNvSpPr txBox="1"/>
          <p:nvPr/>
        </p:nvSpPr>
        <p:spPr>
          <a:xfrm>
            <a:off x="1028699" y="2933700"/>
            <a:ext cx="14363701" cy="2862322"/>
          </a:xfrm>
          <a:prstGeom prst="rect">
            <a:avLst/>
          </a:prstGeom>
          <a:noFill/>
        </p:spPr>
        <p:txBody>
          <a:bodyPr wrap="square" rtlCol="0">
            <a:spAutoFit/>
          </a:bodyPr>
          <a:lstStyle/>
          <a:p>
            <a:r>
              <a:rPr lang="en-US" sz="3600" dirty="0">
                <a:latin typeface="Lucida Sans" panose="020B0602030504020204" pitchFamily="34" charset="0"/>
              </a:rPr>
              <a:t>I express sincere gratitude to the project </a:t>
            </a:r>
            <a:r>
              <a:rPr lang="en-US" sz="3600" dirty="0" err="1">
                <a:latin typeface="Lucida Sans" panose="020B0602030504020204" pitchFamily="34" charset="0"/>
              </a:rPr>
              <a:t>supervisor,Mr</a:t>
            </a:r>
            <a:r>
              <a:rPr lang="en-US" sz="3600" dirty="0">
                <a:latin typeface="Lucida Sans" panose="020B0602030504020204" pitchFamily="34" charset="0"/>
              </a:rPr>
              <a:t> Alfa Peter, lecturers, and the Department of Computer Science for their guidance and support throughout the course of this project. Appreciation is also extended to family and friends for their encouragement.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15853" y="428563"/>
            <a:ext cx="2350135" cy="1173480"/>
          </a:xfrm>
          <a:custGeom>
            <a:avLst/>
            <a:gdLst/>
            <a:ahLst/>
            <a:cxnLst/>
            <a:rect l="l" t="t" r="r" b="b"/>
            <a:pathLst>
              <a:path w="2350135" h="1173480">
                <a:moveTo>
                  <a:pt x="2188184" y="1173474"/>
                </a:moveTo>
                <a:lnTo>
                  <a:pt x="161924" y="1173474"/>
                </a:lnTo>
                <a:lnTo>
                  <a:pt x="130187" y="1170334"/>
                </a:lnTo>
                <a:lnTo>
                  <a:pt x="72088" y="1146268"/>
                </a:lnTo>
                <a:lnTo>
                  <a:pt x="27205" y="1101385"/>
                </a:lnTo>
                <a:lnTo>
                  <a:pt x="3140" y="1043286"/>
                </a:lnTo>
                <a:lnTo>
                  <a:pt x="0" y="1011549"/>
                </a:lnTo>
                <a:lnTo>
                  <a:pt x="0" y="161924"/>
                </a:lnTo>
                <a:lnTo>
                  <a:pt x="12325" y="99958"/>
                </a:lnTo>
                <a:lnTo>
                  <a:pt x="47426" y="47426"/>
                </a:lnTo>
                <a:lnTo>
                  <a:pt x="99958" y="12325"/>
                </a:lnTo>
                <a:lnTo>
                  <a:pt x="161924" y="0"/>
                </a:lnTo>
                <a:lnTo>
                  <a:pt x="2188184" y="0"/>
                </a:lnTo>
                <a:lnTo>
                  <a:pt x="2250150" y="12325"/>
                </a:lnTo>
                <a:lnTo>
                  <a:pt x="2302683" y="47426"/>
                </a:lnTo>
                <a:lnTo>
                  <a:pt x="2337784" y="99958"/>
                </a:lnTo>
                <a:lnTo>
                  <a:pt x="2350109" y="161924"/>
                </a:lnTo>
                <a:lnTo>
                  <a:pt x="2350109" y="1011549"/>
                </a:lnTo>
                <a:lnTo>
                  <a:pt x="2337784" y="1073515"/>
                </a:lnTo>
                <a:lnTo>
                  <a:pt x="2302683" y="1126047"/>
                </a:lnTo>
                <a:lnTo>
                  <a:pt x="2250150" y="1161148"/>
                </a:lnTo>
                <a:lnTo>
                  <a:pt x="2188184" y="1173474"/>
                </a:lnTo>
                <a:close/>
              </a:path>
            </a:pathLst>
          </a:custGeom>
          <a:solidFill>
            <a:srgbClr val="212121"/>
          </a:solidFill>
        </p:spPr>
        <p:txBody>
          <a:bodyPr wrap="square" lIns="0" tIns="0" rIns="0" bIns="0" rtlCol="0"/>
          <a:lstStyle/>
          <a:p>
            <a:endParaRPr/>
          </a:p>
        </p:txBody>
      </p:sp>
      <p:sp>
        <p:nvSpPr>
          <p:cNvPr id="3" name="object 3"/>
          <p:cNvSpPr/>
          <p:nvPr/>
        </p:nvSpPr>
        <p:spPr>
          <a:xfrm>
            <a:off x="1590908" y="1795187"/>
            <a:ext cx="15667355" cy="1127760"/>
          </a:xfrm>
          <a:custGeom>
            <a:avLst/>
            <a:gdLst/>
            <a:ahLst/>
            <a:cxnLst/>
            <a:rect l="l" t="t" r="r" b="b"/>
            <a:pathLst>
              <a:path w="15667355" h="1127760">
                <a:moveTo>
                  <a:pt x="15430267" y="1127236"/>
                </a:moveTo>
                <a:lnTo>
                  <a:pt x="238125" y="1127236"/>
                </a:lnTo>
                <a:lnTo>
                  <a:pt x="190134" y="1122399"/>
                </a:lnTo>
                <a:lnTo>
                  <a:pt x="145436" y="1108523"/>
                </a:lnTo>
                <a:lnTo>
                  <a:pt x="104987" y="1086569"/>
                </a:lnTo>
                <a:lnTo>
                  <a:pt x="69745" y="1057491"/>
                </a:lnTo>
                <a:lnTo>
                  <a:pt x="40668" y="1022250"/>
                </a:lnTo>
                <a:lnTo>
                  <a:pt x="18713" y="981801"/>
                </a:lnTo>
                <a:lnTo>
                  <a:pt x="4837" y="937102"/>
                </a:lnTo>
                <a:lnTo>
                  <a:pt x="0" y="889112"/>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5430267" y="0"/>
                </a:lnTo>
                <a:lnTo>
                  <a:pt x="15478257" y="4837"/>
                </a:lnTo>
                <a:lnTo>
                  <a:pt x="15522955" y="18713"/>
                </a:lnTo>
                <a:lnTo>
                  <a:pt x="15563404" y="40668"/>
                </a:lnTo>
                <a:lnTo>
                  <a:pt x="15598646" y="69745"/>
                </a:lnTo>
                <a:lnTo>
                  <a:pt x="15627724" y="104987"/>
                </a:lnTo>
                <a:lnTo>
                  <a:pt x="15649679" y="145436"/>
                </a:lnTo>
                <a:lnTo>
                  <a:pt x="15663554" y="190134"/>
                </a:lnTo>
                <a:lnTo>
                  <a:pt x="15666832" y="222652"/>
                </a:lnTo>
                <a:lnTo>
                  <a:pt x="15666832" y="904584"/>
                </a:lnTo>
                <a:lnTo>
                  <a:pt x="15649679" y="981801"/>
                </a:lnTo>
                <a:lnTo>
                  <a:pt x="15627724" y="1022250"/>
                </a:lnTo>
                <a:lnTo>
                  <a:pt x="15598646" y="1057491"/>
                </a:lnTo>
                <a:lnTo>
                  <a:pt x="15563404" y="1086569"/>
                </a:lnTo>
                <a:lnTo>
                  <a:pt x="15522955" y="1108523"/>
                </a:lnTo>
                <a:lnTo>
                  <a:pt x="15478257" y="1122399"/>
                </a:lnTo>
                <a:lnTo>
                  <a:pt x="15430267" y="1127236"/>
                </a:lnTo>
                <a:close/>
              </a:path>
            </a:pathLst>
          </a:custGeom>
          <a:solidFill>
            <a:srgbClr val="FFFFFF"/>
          </a:solidFill>
        </p:spPr>
        <p:txBody>
          <a:bodyPr wrap="square" lIns="0" tIns="0" rIns="0" bIns="0" rtlCol="0"/>
          <a:lstStyle/>
          <a:p>
            <a:endParaRPr dirty="0"/>
          </a:p>
        </p:txBody>
      </p:sp>
      <p:sp>
        <p:nvSpPr>
          <p:cNvPr id="4" name="object 4"/>
          <p:cNvSpPr txBox="1"/>
          <p:nvPr/>
        </p:nvSpPr>
        <p:spPr>
          <a:xfrm>
            <a:off x="1673458" y="2009183"/>
            <a:ext cx="14841855" cy="970907"/>
          </a:xfrm>
          <a:prstGeom prst="rect">
            <a:avLst/>
          </a:prstGeom>
        </p:spPr>
        <p:txBody>
          <a:bodyPr vert="horz" wrap="square" lIns="0" tIns="12700" rIns="0" bIns="0" rtlCol="0">
            <a:spAutoFit/>
          </a:bodyPr>
          <a:lstStyle/>
          <a:p>
            <a:pPr marL="12700" marR="5080">
              <a:lnSpc>
                <a:spcPct val="114599"/>
              </a:lnSpc>
              <a:spcBef>
                <a:spcPts val="100"/>
              </a:spcBef>
            </a:pPr>
            <a:r>
              <a:rPr lang="en-US" sz="1800" dirty="0"/>
              <a:t>Kikas, R., </a:t>
            </a:r>
            <a:r>
              <a:rPr lang="en-US" sz="1800" dirty="0" err="1"/>
              <a:t>Gousios</a:t>
            </a:r>
            <a:r>
              <a:rPr lang="en-US" sz="1800" dirty="0"/>
              <a:t>, G., &amp; Dumas, M. (2023). Evolution of package dependency networks. </a:t>
            </a:r>
            <a:r>
              <a:rPr lang="en-US" sz="1800" i="1" dirty="0"/>
              <a:t>IEEE Transactions on Software Engineering, 49</a:t>
            </a:r>
            <a:r>
              <a:rPr lang="en-US" sz="1800" dirty="0"/>
              <a:t>(2), 712–728. https://doi.org/10.1109/TSE.2022.3148296</a:t>
            </a:r>
          </a:p>
          <a:p>
            <a:pPr marL="12700" marR="5080">
              <a:lnSpc>
                <a:spcPct val="114599"/>
              </a:lnSpc>
              <a:spcBef>
                <a:spcPts val="100"/>
              </a:spcBef>
            </a:pPr>
            <a:endParaRPr sz="1800" dirty="0">
              <a:latin typeface="Lucida Sans Unicode"/>
              <a:cs typeface="Lucida Sans Unicode"/>
            </a:endParaRPr>
          </a:p>
        </p:txBody>
      </p:sp>
      <p:sp>
        <p:nvSpPr>
          <p:cNvPr id="5" name="object 5"/>
          <p:cNvSpPr/>
          <p:nvPr/>
        </p:nvSpPr>
        <p:spPr>
          <a:xfrm>
            <a:off x="1590908" y="3217700"/>
            <a:ext cx="15667355" cy="1085850"/>
          </a:xfrm>
          <a:custGeom>
            <a:avLst/>
            <a:gdLst/>
            <a:ahLst/>
            <a:cxnLst/>
            <a:rect l="l" t="t" r="r" b="b"/>
            <a:pathLst>
              <a:path w="15667355" h="1085850">
                <a:moveTo>
                  <a:pt x="15430266" y="1085765"/>
                </a:moveTo>
                <a:lnTo>
                  <a:pt x="238125" y="1085765"/>
                </a:lnTo>
                <a:lnTo>
                  <a:pt x="190134" y="1080927"/>
                </a:lnTo>
                <a:lnTo>
                  <a:pt x="145436" y="1067052"/>
                </a:lnTo>
                <a:lnTo>
                  <a:pt x="104987" y="1045097"/>
                </a:lnTo>
                <a:lnTo>
                  <a:pt x="69745" y="1016020"/>
                </a:lnTo>
                <a:lnTo>
                  <a:pt x="40668" y="980778"/>
                </a:lnTo>
                <a:lnTo>
                  <a:pt x="18713" y="940329"/>
                </a:lnTo>
                <a:lnTo>
                  <a:pt x="4837" y="895631"/>
                </a:lnTo>
                <a:lnTo>
                  <a:pt x="0" y="847640"/>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5430266" y="0"/>
                </a:lnTo>
                <a:lnTo>
                  <a:pt x="15478257" y="4837"/>
                </a:lnTo>
                <a:lnTo>
                  <a:pt x="15522955" y="18713"/>
                </a:lnTo>
                <a:lnTo>
                  <a:pt x="15563404" y="40668"/>
                </a:lnTo>
                <a:lnTo>
                  <a:pt x="15598646" y="69745"/>
                </a:lnTo>
                <a:lnTo>
                  <a:pt x="15627723" y="104987"/>
                </a:lnTo>
                <a:lnTo>
                  <a:pt x="15649678" y="145436"/>
                </a:lnTo>
                <a:lnTo>
                  <a:pt x="15663553" y="190134"/>
                </a:lnTo>
                <a:lnTo>
                  <a:pt x="15667259" y="226899"/>
                </a:lnTo>
                <a:lnTo>
                  <a:pt x="15667259" y="858865"/>
                </a:lnTo>
                <a:lnTo>
                  <a:pt x="15649678" y="940329"/>
                </a:lnTo>
                <a:lnTo>
                  <a:pt x="15627723" y="980778"/>
                </a:lnTo>
                <a:lnTo>
                  <a:pt x="15598646" y="1016020"/>
                </a:lnTo>
                <a:lnTo>
                  <a:pt x="15563404" y="1045097"/>
                </a:lnTo>
                <a:lnTo>
                  <a:pt x="15522955" y="1067052"/>
                </a:lnTo>
                <a:lnTo>
                  <a:pt x="15478257" y="1080927"/>
                </a:lnTo>
                <a:lnTo>
                  <a:pt x="15430266" y="1085765"/>
                </a:lnTo>
                <a:close/>
              </a:path>
            </a:pathLst>
          </a:custGeom>
          <a:solidFill>
            <a:srgbClr val="FFFFFF"/>
          </a:solidFill>
        </p:spPr>
        <p:txBody>
          <a:bodyPr wrap="square" lIns="0" tIns="0" rIns="0" bIns="0" rtlCol="0"/>
          <a:lstStyle/>
          <a:p>
            <a:endParaRPr/>
          </a:p>
        </p:txBody>
      </p:sp>
      <p:sp>
        <p:nvSpPr>
          <p:cNvPr id="6" name="object 6"/>
          <p:cNvSpPr txBox="1"/>
          <p:nvPr/>
        </p:nvSpPr>
        <p:spPr>
          <a:xfrm>
            <a:off x="1673458" y="3412644"/>
            <a:ext cx="14839315" cy="970907"/>
          </a:xfrm>
          <a:prstGeom prst="rect">
            <a:avLst/>
          </a:prstGeom>
        </p:spPr>
        <p:txBody>
          <a:bodyPr vert="horz" wrap="square" lIns="0" tIns="12700" rIns="0" bIns="0" rtlCol="0">
            <a:spAutoFit/>
          </a:bodyPr>
          <a:lstStyle/>
          <a:p>
            <a:pPr marL="12700" marR="5080">
              <a:lnSpc>
                <a:spcPct val="114599"/>
              </a:lnSpc>
              <a:spcBef>
                <a:spcPts val="100"/>
              </a:spcBef>
            </a:pPr>
            <a:r>
              <a:rPr lang="en-US" sz="1800" dirty="0"/>
              <a:t>Xu, X., Liu, C., Zhai, J., &amp; Li, X. (2020). Enhancing software analytics with graph neural networks. </a:t>
            </a:r>
            <a:r>
              <a:rPr lang="en-US" sz="1800" i="1" dirty="0"/>
              <a:t>ACM Computing Surveys, 53</a:t>
            </a:r>
            <a:r>
              <a:rPr lang="en-US" sz="1800" dirty="0"/>
              <a:t>(3), 1–35. https://doi.org/10.1145/3375636</a:t>
            </a:r>
          </a:p>
          <a:p>
            <a:pPr marL="12700" marR="5080">
              <a:lnSpc>
                <a:spcPct val="114599"/>
              </a:lnSpc>
              <a:spcBef>
                <a:spcPts val="100"/>
              </a:spcBef>
            </a:pPr>
            <a:endParaRPr sz="1800" dirty="0">
              <a:latin typeface="Lucida Sans Unicode"/>
              <a:cs typeface="Lucida Sans Unicode"/>
            </a:endParaRPr>
          </a:p>
        </p:txBody>
      </p:sp>
      <p:sp>
        <p:nvSpPr>
          <p:cNvPr id="7" name="object 7"/>
          <p:cNvSpPr/>
          <p:nvPr/>
        </p:nvSpPr>
        <p:spPr>
          <a:xfrm>
            <a:off x="1590908" y="4598740"/>
            <a:ext cx="15667990" cy="972185"/>
          </a:xfrm>
          <a:custGeom>
            <a:avLst/>
            <a:gdLst/>
            <a:ahLst/>
            <a:cxnLst/>
            <a:rect l="l" t="t" r="r" b="b"/>
            <a:pathLst>
              <a:path w="15667990" h="972185">
                <a:moveTo>
                  <a:pt x="15430267" y="971870"/>
                </a:moveTo>
                <a:lnTo>
                  <a:pt x="238125" y="971870"/>
                </a:lnTo>
                <a:lnTo>
                  <a:pt x="191452" y="967252"/>
                </a:lnTo>
                <a:lnTo>
                  <a:pt x="146998" y="953744"/>
                </a:lnTo>
                <a:lnTo>
                  <a:pt x="106013" y="931863"/>
                </a:lnTo>
                <a:lnTo>
                  <a:pt x="69745" y="902125"/>
                </a:lnTo>
                <a:lnTo>
                  <a:pt x="40007" y="865857"/>
                </a:lnTo>
                <a:lnTo>
                  <a:pt x="18126" y="824872"/>
                </a:lnTo>
                <a:lnTo>
                  <a:pt x="4617" y="780418"/>
                </a:lnTo>
                <a:lnTo>
                  <a:pt x="0" y="733745"/>
                </a:lnTo>
                <a:lnTo>
                  <a:pt x="0" y="238125"/>
                </a:lnTo>
                <a:lnTo>
                  <a:pt x="4617" y="191452"/>
                </a:lnTo>
                <a:lnTo>
                  <a:pt x="18126" y="146998"/>
                </a:lnTo>
                <a:lnTo>
                  <a:pt x="40007" y="106013"/>
                </a:lnTo>
                <a:lnTo>
                  <a:pt x="69745" y="69745"/>
                </a:lnTo>
                <a:lnTo>
                  <a:pt x="106013" y="40007"/>
                </a:lnTo>
                <a:lnTo>
                  <a:pt x="146998" y="18126"/>
                </a:lnTo>
                <a:lnTo>
                  <a:pt x="191452" y="4617"/>
                </a:lnTo>
                <a:lnTo>
                  <a:pt x="238125" y="0"/>
                </a:lnTo>
                <a:lnTo>
                  <a:pt x="15430267" y="0"/>
                </a:lnTo>
                <a:lnTo>
                  <a:pt x="15476941" y="4617"/>
                </a:lnTo>
                <a:lnTo>
                  <a:pt x="15521394" y="18126"/>
                </a:lnTo>
                <a:lnTo>
                  <a:pt x="15562379" y="40007"/>
                </a:lnTo>
                <a:lnTo>
                  <a:pt x="15598646" y="69745"/>
                </a:lnTo>
                <a:lnTo>
                  <a:pt x="15628384" y="106013"/>
                </a:lnTo>
                <a:lnTo>
                  <a:pt x="15650265" y="146998"/>
                </a:lnTo>
                <a:lnTo>
                  <a:pt x="15663773" y="191452"/>
                </a:lnTo>
                <a:lnTo>
                  <a:pt x="15667618" y="230317"/>
                </a:lnTo>
                <a:lnTo>
                  <a:pt x="15667618" y="741553"/>
                </a:lnTo>
                <a:lnTo>
                  <a:pt x="15663773" y="780418"/>
                </a:lnTo>
                <a:lnTo>
                  <a:pt x="15650265" y="824872"/>
                </a:lnTo>
                <a:lnTo>
                  <a:pt x="15628384" y="865857"/>
                </a:lnTo>
                <a:lnTo>
                  <a:pt x="15598646" y="902125"/>
                </a:lnTo>
                <a:lnTo>
                  <a:pt x="15562379" y="931863"/>
                </a:lnTo>
                <a:lnTo>
                  <a:pt x="15521394" y="953744"/>
                </a:lnTo>
                <a:lnTo>
                  <a:pt x="15476941" y="967252"/>
                </a:lnTo>
                <a:lnTo>
                  <a:pt x="15430267" y="971870"/>
                </a:lnTo>
                <a:close/>
              </a:path>
            </a:pathLst>
          </a:custGeom>
          <a:solidFill>
            <a:srgbClr val="FFFFFF"/>
          </a:solidFill>
        </p:spPr>
        <p:txBody>
          <a:bodyPr wrap="square" lIns="0" tIns="0" rIns="0" bIns="0" rtlCol="0"/>
          <a:lstStyle/>
          <a:p>
            <a:endParaRPr/>
          </a:p>
        </p:txBody>
      </p:sp>
      <p:sp>
        <p:nvSpPr>
          <p:cNvPr id="8" name="object 8"/>
          <p:cNvSpPr/>
          <p:nvPr/>
        </p:nvSpPr>
        <p:spPr>
          <a:xfrm>
            <a:off x="1590908" y="5865886"/>
            <a:ext cx="15667355" cy="922019"/>
          </a:xfrm>
          <a:custGeom>
            <a:avLst/>
            <a:gdLst/>
            <a:ahLst/>
            <a:cxnLst/>
            <a:rect l="l" t="t" r="r" b="b"/>
            <a:pathLst>
              <a:path w="15667355" h="922020">
                <a:moveTo>
                  <a:pt x="15430268" y="922020"/>
                </a:moveTo>
                <a:lnTo>
                  <a:pt x="238125" y="922020"/>
                </a:lnTo>
                <a:lnTo>
                  <a:pt x="190134" y="917182"/>
                </a:lnTo>
                <a:lnTo>
                  <a:pt x="145436" y="903307"/>
                </a:lnTo>
                <a:lnTo>
                  <a:pt x="104987" y="881352"/>
                </a:lnTo>
                <a:lnTo>
                  <a:pt x="69745" y="852275"/>
                </a:lnTo>
                <a:lnTo>
                  <a:pt x="40668" y="817033"/>
                </a:lnTo>
                <a:lnTo>
                  <a:pt x="18713" y="776584"/>
                </a:lnTo>
                <a:lnTo>
                  <a:pt x="4837" y="731885"/>
                </a:lnTo>
                <a:lnTo>
                  <a:pt x="0" y="683895"/>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5430268" y="0"/>
                </a:lnTo>
                <a:lnTo>
                  <a:pt x="15478259" y="4837"/>
                </a:lnTo>
                <a:lnTo>
                  <a:pt x="15522957" y="18713"/>
                </a:lnTo>
                <a:lnTo>
                  <a:pt x="15563406" y="40668"/>
                </a:lnTo>
                <a:lnTo>
                  <a:pt x="15598648" y="69745"/>
                </a:lnTo>
                <a:lnTo>
                  <a:pt x="15627725" y="104987"/>
                </a:lnTo>
                <a:lnTo>
                  <a:pt x="15649680" y="145436"/>
                </a:lnTo>
                <a:lnTo>
                  <a:pt x="15663555" y="190134"/>
                </a:lnTo>
                <a:lnTo>
                  <a:pt x="15667137" y="225660"/>
                </a:lnTo>
                <a:lnTo>
                  <a:pt x="15667137" y="696359"/>
                </a:lnTo>
                <a:lnTo>
                  <a:pt x="15649680" y="776584"/>
                </a:lnTo>
                <a:lnTo>
                  <a:pt x="15627725" y="817033"/>
                </a:lnTo>
                <a:lnTo>
                  <a:pt x="15598648" y="852275"/>
                </a:lnTo>
                <a:lnTo>
                  <a:pt x="15563406" y="881352"/>
                </a:lnTo>
                <a:lnTo>
                  <a:pt x="15522957" y="903307"/>
                </a:lnTo>
                <a:lnTo>
                  <a:pt x="15478259" y="917182"/>
                </a:lnTo>
                <a:lnTo>
                  <a:pt x="15430268" y="922020"/>
                </a:lnTo>
                <a:close/>
              </a:path>
            </a:pathLst>
          </a:custGeom>
          <a:solidFill>
            <a:srgbClr val="FFFFFF"/>
          </a:solidFill>
        </p:spPr>
        <p:txBody>
          <a:bodyPr wrap="square" lIns="0" tIns="0" rIns="0" bIns="0" rtlCol="0"/>
          <a:lstStyle/>
          <a:p>
            <a:endParaRPr/>
          </a:p>
        </p:txBody>
      </p:sp>
      <p:sp>
        <p:nvSpPr>
          <p:cNvPr id="9" name="object 9"/>
          <p:cNvSpPr txBox="1">
            <a:spLocks noGrp="1"/>
          </p:cNvSpPr>
          <p:nvPr>
            <p:ph type="title"/>
          </p:nvPr>
        </p:nvSpPr>
        <p:spPr>
          <a:xfrm>
            <a:off x="1191501" y="408992"/>
            <a:ext cx="798830" cy="1150620"/>
          </a:xfrm>
          <a:prstGeom prst="rect">
            <a:avLst/>
          </a:prstGeom>
        </p:spPr>
        <p:txBody>
          <a:bodyPr vert="horz" wrap="square" lIns="0" tIns="16510" rIns="0" bIns="0" rtlCol="0">
            <a:spAutoFit/>
          </a:bodyPr>
          <a:lstStyle/>
          <a:p>
            <a:pPr marL="12700">
              <a:lnSpc>
                <a:spcPct val="100000"/>
              </a:lnSpc>
              <a:spcBef>
                <a:spcPts val="130"/>
              </a:spcBef>
            </a:pPr>
            <a:r>
              <a:rPr lang="en-US" sz="7350" spc="-860" dirty="0">
                <a:solidFill>
                  <a:srgbClr val="FFFFFF"/>
                </a:solidFill>
              </a:rPr>
              <a:t>10</a:t>
            </a:r>
            <a:endParaRPr sz="7350" dirty="0"/>
          </a:p>
        </p:txBody>
      </p:sp>
      <p:sp>
        <p:nvSpPr>
          <p:cNvPr id="10" name="object 10"/>
          <p:cNvSpPr txBox="1"/>
          <p:nvPr/>
        </p:nvSpPr>
        <p:spPr>
          <a:xfrm>
            <a:off x="2971800" y="531850"/>
            <a:ext cx="9047965" cy="976548"/>
          </a:xfrm>
          <a:prstGeom prst="rect">
            <a:avLst/>
          </a:prstGeom>
        </p:spPr>
        <p:txBody>
          <a:bodyPr vert="horz" wrap="square" lIns="0" tIns="14604" rIns="0" bIns="0" rtlCol="0">
            <a:spAutoFit/>
          </a:bodyPr>
          <a:lstStyle/>
          <a:p>
            <a:pPr marL="12700">
              <a:lnSpc>
                <a:spcPct val="100000"/>
              </a:lnSpc>
              <a:spcBef>
                <a:spcPts val="114"/>
              </a:spcBef>
            </a:pPr>
            <a:r>
              <a:rPr lang="en-US" sz="6250" spc="-715" dirty="0">
                <a:latin typeface="Trebuchet MS"/>
                <a:cs typeface="Trebuchet MS"/>
              </a:rPr>
              <a:t>REFERENCES</a:t>
            </a:r>
            <a:endParaRPr sz="6250" dirty="0">
              <a:latin typeface="Trebuchet MS"/>
              <a:cs typeface="Trebuchet MS"/>
            </a:endParaRPr>
          </a:p>
        </p:txBody>
      </p:sp>
      <p:sp>
        <p:nvSpPr>
          <p:cNvPr id="11" name="object 11"/>
          <p:cNvSpPr/>
          <p:nvPr/>
        </p:nvSpPr>
        <p:spPr>
          <a:xfrm>
            <a:off x="1590908" y="7083180"/>
            <a:ext cx="15846425" cy="922019"/>
          </a:xfrm>
          <a:custGeom>
            <a:avLst/>
            <a:gdLst/>
            <a:ahLst/>
            <a:cxnLst/>
            <a:rect l="l" t="t" r="r" b="b"/>
            <a:pathLst>
              <a:path w="15846425" h="922020">
                <a:moveTo>
                  <a:pt x="15607775" y="922020"/>
                </a:moveTo>
                <a:lnTo>
                  <a:pt x="238125" y="922020"/>
                </a:lnTo>
                <a:lnTo>
                  <a:pt x="190134" y="917182"/>
                </a:lnTo>
                <a:lnTo>
                  <a:pt x="145436" y="903306"/>
                </a:lnTo>
                <a:lnTo>
                  <a:pt x="104987" y="881351"/>
                </a:lnTo>
                <a:lnTo>
                  <a:pt x="69745" y="852274"/>
                </a:lnTo>
                <a:lnTo>
                  <a:pt x="40668" y="817032"/>
                </a:lnTo>
                <a:lnTo>
                  <a:pt x="18713" y="776583"/>
                </a:lnTo>
                <a:lnTo>
                  <a:pt x="4837" y="731885"/>
                </a:lnTo>
                <a:lnTo>
                  <a:pt x="0" y="683895"/>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5607775" y="0"/>
                </a:lnTo>
                <a:lnTo>
                  <a:pt x="15655765" y="4837"/>
                </a:lnTo>
                <a:lnTo>
                  <a:pt x="15700464" y="18713"/>
                </a:lnTo>
                <a:lnTo>
                  <a:pt x="15740913" y="40668"/>
                </a:lnTo>
                <a:lnTo>
                  <a:pt x="15776155" y="69745"/>
                </a:lnTo>
                <a:lnTo>
                  <a:pt x="15805232" y="104987"/>
                </a:lnTo>
                <a:lnTo>
                  <a:pt x="15827187" y="145436"/>
                </a:lnTo>
                <a:lnTo>
                  <a:pt x="15841062" y="190134"/>
                </a:lnTo>
                <a:lnTo>
                  <a:pt x="15845900" y="238125"/>
                </a:lnTo>
                <a:lnTo>
                  <a:pt x="15845900" y="683895"/>
                </a:lnTo>
                <a:lnTo>
                  <a:pt x="15841062" y="731885"/>
                </a:lnTo>
                <a:lnTo>
                  <a:pt x="15827187" y="776583"/>
                </a:lnTo>
                <a:lnTo>
                  <a:pt x="15805232" y="817032"/>
                </a:lnTo>
                <a:lnTo>
                  <a:pt x="15776155" y="852274"/>
                </a:lnTo>
                <a:lnTo>
                  <a:pt x="15740913" y="881351"/>
                </a:lnTo>
                <a:lnTo>
                  <a:pt x="15700464" y="903306"/>
                </a:lnTo>
                <a:lnTo>
                  <a:pt x="15655765" y="917182"/>
                </a:lnTo>
                <a:lnTo>
                  <a:pt x="15607775" y="922020"/>
                </a:lnTo>
                <a:close/>
              </a:path>
            </a:pathLst>
          </a:custGeom>
          <a:solidFill>
            <a:srgbClr val="FFFFFF"/>
          </a:solidFill>
        </p:spPr>
        <p:txBody>
          <a:bodyPr wrap="square" lIns="0" tIns="0" rIns="0" bIns="0" rtlCol="0"/>
          <a:lstStyle/>
          <a:p>
            <a:endParaRPr/>
          </a:p>
        </p:txBody>
      </p:sp>
      <p:sp>
        <p:nvSpPr>
          <p:cNvPr id="12" name="object 12"/>
          <p:cNvSpPr txBox="1">
            <a:spLocks noGrp="1"/>
          </p:cNvSpPr>
          <p:nvPr>
            <p:ph type="body" idx="1"/>
          </p:nvPr>
        </p:nvSpPr>
        <p:spPr>
          <a:xfrm>
            <a:off x="1673458" y="4736535"/>
            <a:ext cx="15503525" cy="3736920"/>
          </a:xfrm>
          <a:prstGeom prst="rect">
            <a:avLst/>
          </a:prstGeom>
        </p:spPr>
        <p:txBody>
          <a:bodyPr vert="horz" wrap="square" lIns="0" tIns="12700" rIns="0" bIns="0" rtlCol="0">
            <a:spAutoFit/>
          </a:bodyPr>
          <a:lstStyle/>
          <a:p>
            <a:pPr>
              <a:spcBef>
                <a:spcPts val="2035"/>
              </a:spcBef>
            </a:pPr>
            <a:r>
              <a:rPr lang="en-US" dirty="0"/>
              <a:t>Zhou, Y., Chen, Z., &amp; </a:t>
            </a:r>
            <a:r>
              <a:rPr lang="en-US" dirty="0" err="1"/>
              <a:t>Monperrus</a:t>
            </a:r>
            <a:r>
              <a:rPr lang="en-US" dirty="0"/>
              <a:t>, M. (2024). Predicting software build failures using hybrid deep learning models. </a:t>
            </a:r>
            <a:r>
              <a:rPr lang="en-US" i="1" dirty="0"/>
              <a:t>Empirical Software Engineering, 29</a:t>
            </a:r>
            <a:r>
              <a:rPr lang="en-US" dirty="0"/>
              <a:t>(1), 1–28. https://doi.org/10.1007/s10664-023-10315-4</a:t>
            </a:r>
          </a:p>
          <a:p>
            <a:pPr>
              <a:lnSpc>
                <a:spcPct val="100000"/>
              </a:lnSpc>
              <a:spcBef>
                <a:spcPts val="2035"/>
              </a:spcBef>
            </a:pPr>
            <a:endParaRPr u="sng" spc="-50" dirty="0">
              <a:uFill>
                <a:solidFill>
                  <a:srgbClr val="000000"/>
                </a:solidFill>
              </a:uFill>
              <a:hlinkClick r:id="rId2"/>
            </a:endParaRPr>
          </a:p>
          <a:p>
            <a:pPr>
              <a:spcBef>
                <a:spcPts val="1864"/>
              </a:spcBef>
            </a:pPr>
            <a:r>
              <a:rPr lang="en-US" dirty="0"/>
              <a:t>Zhang, J., Wang, S., &amp; Hassan, A. E. (2023). Software defect prediction using graph neural networks. </a:t>
            </a:r>
            <a:r>
              <a:rPr lang="en-US" i="1" dirty="0"/>
              <a:t>IEEE Transactions on Software Engineering, 49</a:t>
            </a:r>
            <a:r>
              <a:rPr lang="en-US" dirty="0"/>
              <a:t>(3), 1314–1330. </a:t>
            </a:r>
            <a:r>
              <a:rPr lang="en-US" dirty="0">
                <a:hlinkClick r:id="rId3"/>
              </a:rPr>
              <a:t>https://doi.org/10.1109/TSE.2022.3145678</a:t>
            </a:r>
            <a:endParaRPr lang="en-US" dirty="0"/>
          </a:p>
          <a:p>
            <a:pPr>
              <a:spcBef>
                <a:spcPts val="1864"/>
              </a:spcBef>
            </a:pPr>
            <a:endParaRPr lang="en-US" dirty="0"/>
          </a:p>
          <a:p>
            <a:pPr>
              <a:spcBef>
                <a:spcPts val="1864"/>
              </a:spcBef>
            </a:pPr>
            <a:r>
              <a:rPr lang="en-US" dirty="0"/>
              <a:t>Abate, P., Boender, J., Di Cosmo, R., &amp; Zacchiroli, S. (2020). Dependency solving is still hard, but we are getting better results. </a:t>
            </a:r>
            <a:r>
              <a:rPr lang="en-US" i="1" dirty="0"/>
              <a:t>Journal of Systems and Software, 159</a:t>
            </a:r>
            <a:r>
              <a:rPr lang="en-US" dirty="0"/>
              <a:t>, 110432. https://doi.org/10.1016/j.jss.2019.110432</a:t>
            </a:r>
          </a:p>
          <a:p>
            <a:pPr>
              <a:lnSpc>
                <a:spcPct val="100000"/>
              </a:lnSpc>
              <a:spcBef>
                <a:spcPts val="1864"/>
              </a:spcBef>
            </a:pPr>
            <a:endParaRPr u="sng" spc="-45" dirty="0">
              <a:uFill>
                <a:solidFill>
                  <a:srgbClr val="000000"/>
                </a:solidFill>
              </a:uFill>
              <a:hlinkClick r:id="rId4"/>
            </a:endParaRPr>
          </a:p>
        </p:txBody>
      </p:sp>
      <p:sp>
        <p:nvSpPr>
          <p:cNvPr id="13" name="object 13"/>
          <p:cNvSpPr/>
          <p:nvPr/>
        </p:nvSpPr>
        <p:spPr>
          <a:xfrm>
            <a:off x="1590908" y="8300476"/>
            <a:ext cx="15667355" cy="770890"/>
          </a:xfrm>
          <a:custGeom>
            <a:avLst/>
            <a:gdLst/>
            <a:ahLst/>
            <a:cxnLst/>
            <a:rect l="l" t="t" r="r" b="b"/>
            <a:pathLst>
              <a:path w="15667355" h="770890">
                <a:moveTo>
                  <a:pt x="15430267" y="770563"/>
                </a:moveTo>
                <a:lnTo>
                  <a:pt x="238125" y="770563"/>
                </a:lnTo>
                <a:lnTo>
                  <a:pt x="190134" y="765725"/>
                </a:lnTo>
                <a:lnTo>
                  <a:pt x="145436" y="751850"/>
                </a:lnTo>
                <a:lnTo>
                  <a:pt x="104987" y="729895"/>
                </a:lnTo>
                <a:lnTo>
                  <a:pt x="69745" y="700818"/>
                </a:lnTo>
                <a:lnTo>
                  <a:pt x="40668" y="665576"/>
                </a:lnTo>
                <a:lnTo>
                  <a:pt x="18713" y="625127"/>
                </a:lnTo>
                <a:lnTo>
                  <a:pt x="4837" y="580429"/>
                </a:lnTo>
                <a:lnTo>
                  <a:pt x="0" y="532438"/>
                </a:lnTo>
                <a:lnTo>
                  <a:pt x="0" y="238125"/>
                </a:lnTo>
                <a:lnTo>
                  <a:pt x="4837" y="190134"/>
                </a:lnTo>
                <a:lnTo>
                  <a:pt x="18713" y="145436"/>
                </a:lnTo>
                <a:lnTo>
                  <a:pt x="40668" y="104987"/>
                </a:lnTo>
                <a:lnTo>
                  <a:pt x="69745" y="69745"/>
                </a:lnTo>
                <a:lnTo>
                  <a:pt x="104987" y="40668"/>
                </a:lnTo>
                <a:lnTo>
                  <a:pt x="145436" y="18713"/>
                </a:lnTo>
                <a:lnTo>
                  <a:pt x="190134" y="4837"/>
                </a:lnTo>
                <a:lnTo>
                  <a:pt x="238125" y="0"/>
                </a:lnTo>
                <a:lnTo>
                  <a:pt x="15430267" y="0"/>
                </a:lnTo>
                <a:lnTo>
                  <a:pt x="15478257" y="4837"/>
                </a:lnTo>
                <a:lnTo>
                  <a:pt x="15522956" y="18713"/>
                </a:lnTo>
                <a:lnTo>
                  <a:pt x="15563405" y="40668"/>
                </a:lnTo>
                <a:lnTo>
                  <a:pt x="15598647" y="69745"/>
                </a:lnTo>
                <a:lnTo>
                  <a:pt x="15627724" y="104987"/>
                </a:lnTo>
                <a:lnTo>
                  <a:pt x="15649679" y="145436"/>
                </a:lnTo>
                <a:lnTo>
                  <a:pt x="15663554" y="190134"/>
                </a:lnTo>
                <a:lnTo>
                  <a:pt x="15667119" y="225500"/>
                </a:lnTo>
                <a:lnTo>
                  <a:pt x="15667119" y="545063"/>
                </a:lnTo>
                <a:lnTo>
                  <a:pt x="15649679" y="625127"/>
                </a:lnTo>
                <a:lnTo>
                  <a:pt x="15627724" y="665576"/>
                </a:lnTo>
                <a:lnTo>
                  <a:pt x="15598647" y="700818"/>
                </a:lnTo>
                <a:lnTo>
                  <a:pt x="15563405" y="729895"/>
                </a:lnTo>
                <a:lnTo>
                  <a:pt x="15522956" y="751850"/>
                </a:lnTo>
                <a:lnTo>
                  <a:pt x="15478257" y="765725"/>
                </a:lnTo>
                <a:lnTo>
                  <a:pt x="15430267" y="770563"/>
                </a:lnTo>
                <a:close/>
              </a:path>
            </a:pathLst>
          </a:custGeom>
          <a:solidFill>
            <a:srgbClr val="FFFFFF"/>
          </a:solidFill>
        </p:spPr>
        <p:txBody>
          <a:bodyPr wrap="square" lIns="0" tIns="0" rIns="0" bIns="0" rtlCol="0"/>
          <a:lstStyle/>
          <a:p>
            <a:r>
              <a:rPr lang="en-US" sz="1800" dirty="0"/>
              <a:t>Decan, A., </a:t>
            </a:r>
            <a:r>
              <a:rPr lang="en-US" sz="1800" dirty="0" err="1"/>
              <a:t>Mens</a:t>
            </a:r>
            <a:r>
              <a:rPr lang="en-US" sz="1800" dirty="0"/>
              <a:t>, T., &amp; Grosjean, P. (2020). An empirical comparison of dependency networks in Python and JavaScript. </a:t>
            </a:r>
            <a:r>
              <a:rPr lang="en-US" sz="1800" i="1" dirty="0"/>
              <a:t>Empirical Software Engineering, 25</a:t>
            </a:r>
            <a:r>
              <a:rPr lang="en-US" sz="1800" dirty="0"/>
              <a:t>(4), 2921–2977. https://doi.org/10.1007/s10664-020-09813-5</a:t>
            </a:r>
          </a:p>
          <a:p>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625433" y="4542701"/>
            <a:ext cx="5487035" cy="1644014"/>
          </a:xfrm>
          <a:prstGeom prst="rect">
            <a:avLst/>
          </a:prstGeom>
        </p:spPr>
        <p:txBody>
          <a:bodyPr vert="horz" wrap="square" lIns="0" tIns="14604" rIns="0" bIns="0" rtlCol="0">
            <a:spAutoFit/>
          </a:bodyPr>
          <a:lstStyle/>
          <a:p>
            <a:pPr marL="12700">
              <a:lnSpc>
                <a:spcPct val="100000"/>
              </a:lnSpc>
              <a:spcBef>
                <a:spcPts val="114"/>
              </a:spcBef>
            </a:pPr>
            <a:r>
              <a:rPr sz="10600" spc="-730" dirty="0"/>
              <a:t>Thank</a:t>
            </a:r>
            <a:r>
              <a:rPr sz="10600" spc="-695" dirty="0"/>
              <a:t> </a:t>
            </a:r>
            <a:r>
              <a:rPr sz="10600" spc="-800" dirty="0"/>
              <a:t>You</a:t>
            </a:r>
            <a:endParaRPr sz="10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964</TotalTime>
  <Words>1232</Words>
  <Application>Microsoft Office PowerPoint</Application>
  <PresentationFormat>Custom</PresentationFormat>
  <Paragraphs>111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Lucida Sans</vt:lpstr>
      <vt:lpstr>Lucida Sans Unicode</vt:lpstr>
      <vt:lpstr>Trebuchet MS</vt:lpstr>
      <vt:lpstr>Office Theme</vt:lpstr>
      <vt:lpstr>DEEP  LEARNING-BASED MODEL FOR SOLVING DEPENDENCY VERSION CONFLICTS</vt:lpstr>
      <vt:lpstr>PowerPoint Presentation</vt:lpstr>
      <vt:lpstr>01 INTRODUCTION</vt:lpstr>
      <vt:lpstr>02 PROBLEM STATEMENT</vt:lpstr>
      <vt:lpstr>03 AIM AND OBJECTIVES</vt:lpstr>
      <vt:lpstr>04 LITERATURE REVIEW</vt:lpstr>
      <vt:lpstr>05 LITERATURE REVIEW</vt:lpstr>
      <vt:lpstr>06 METHODOLOGY</vt:lpstr>
      <vt:lpstr>SYSTEM ARCHITECTURE DIAGRAM</vt:lpstr>
      <vt:lpstr>PowerPoint Presentation</vt:lpstr>
      <vt:lpstr>EXPECTED RESULTS</vt:lpstr>
      <vt:lpstr>08 CONCLUSION</vt:lpstr>
      <vt:lpstr>PowerPoint Presentation</vt:lpstr>
      <vt:lpstr>10</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106 Mini defense</dc:title>
  <dc:creator>Alayerogun Tobiloba</dc:creator>
  <cp:keywords>DAG394vlPOU,BAF4Xzk_jhA,0</cp:keywords>
  <cp:lastModifiedBy>HP</cp:lastModifiedBy>
  <cp:revision>3</cp:revision>
  <dcterms:created xsi:type="dcterms:W3CDTF">2026-01-29T10:27:28Z</dcterms:created>
  <dcterms:modified xsi:type="dcterms:W3CDTF">2026-01-30T02:32:51Z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2025-11-12T00:00:00Z</vt:filetime>
  </property>
  <property fmtid="{D5CDD505-2E9C-101B-9397-08002B2CF9AE}" pid="3" name="Creator">
    <vt:lpwstr>Canva</vt:lpwstr>
  </property>
  <property fmtid="{D5CDD505-2E9C-101B-9397-08002B2CF9AE}" pid="4" name="LastSaved">
    <vt:filetime>2026-01-29T00:00:00Z</vt:filetime>
  </property>
  <property fmtid="{D5CDD505-2E9C-101B-9397-08002B2CF9AE}" pid="5" name="Producer">
    <vt:lpwstr>Canva</vt:lpwstr>
  </property>
</Properties>
</file>